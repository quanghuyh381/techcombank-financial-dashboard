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Montserrat Ultra-Bold" charset="1" panose="00000900000000000000"/>
      <p:regular r:id="rId27"/>
    </p:embeddedFont>
    <p:embeddedFont>
      <p:font typeface="Montserrat Medium" charset="1" panose="00000600000000000000"/>
      <p:regular r:id="rId28"/>
    </p:embeddedFont>
    <p:embeddedFont>
      <p:font typeface="Montserrat Semi-Bold" charset="1" panose="00000700000000000000"/>
      <p:regular r:id="rId29"/>
    </p:embeddedFont>
    <p:embeddedFont>
      <p:font typeface="Montserrat Bold" charset="1" panose="00000800000000000000"/>
      <p:regular r:id="rId30"/>
    </p:embeddedFont>
    <p:embeddedFont>
      <p:font typeface="Montserrat" charset="1" panose="000005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4.png" Type="http://schemas.openxmlformats.org/officeDocument/2006/relationships/image"/><Relationship Id="rId13" Target="../media/image5.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6.png" Type="http://schemas.openxmlformats.org/officeDocument/2006/relationships/image"/><Relationship Id="rId5"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6.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6.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6.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6.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6.png" Type="http://schemas.openxmlformats.org/officeDocument/2006/relationships/image"/><Relationship Id="rId5"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6.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6.png" Type="http://schemas.openxmlformats.org/officeDocument/2006/relationships/image"/><Relationship Id="rId5" Target="../media/image29.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6.png" Type="http://schemas.openxmlformats.org/officeDocument/2006/relationships/image"/><Relationship Id="rId5" Target="../media/image29.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3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6.png" Type="http://schemas.openxmlformats.org/officeDocument/2006/relationships/image"/><Relationship Id="rId5" Target="../media/image29.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3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3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6.png" Type="http://schemas.openxmlformats.org/officeDocument/2006/relationships/image"/><Relationship Id="rId5" Target="../media/image33.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3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6.png" Type="http://schemas.openxmlformats.org/officeDocument/2006/relationships/image"/><Relationship Id="rId5" Target="../media/image33.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6.png" Type="http://schemas.openxmlformats.org/officeDocument/2006/relationships/image"/><Relationship Id="rId5" Target="../media/image33.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35.png" Type="http://schemas.openxmlformats.org/officeDocument/2006/relationships/image"/><Relationship Id="rId9" Target="../media/image3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6.png" Type="http://schemas.openxmlformats.org/officeDocument/2006/relationships/image"/><Relationship Id="rId5" Target="../media/image33.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3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6.png" Type="http://schemas.openxmlformats.org/officeDocument/2006/relationships/image"/><Relationship Id="rId5" Target="../media/image33.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3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jpe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2.png" Type="http://schemas.openxmlformats.org/officeDocument/2006/relationships/image"/><Relationship Id="rId8" Target="../media/image4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jpe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43309" y="-1358932"/>
            <a:ext cx="12637121" cy="11740418"/>
          </a:xfrm>
          <a:custGeom>
            <a:avLst/>
            <a:gdLst/>
            <a:ahLst/>
            <a:cxnLst/>
            <a:rect r="r" b="b" t="t" l="l"/>
            <a:pathLst>
              <a:path h="11740418" w="12637121">
                <a:moveTo>
                  <a:pt x="0" y="0"/>
                </a:moveTo>
                <a:lnTo>
                  <a:pt x="12637121" y="0"/>
                </a:lnTo>
                <a:lnTo>
                  <a:pt x="12637121" y="11740417"/>
                </a:lnTo>
                <a:lnTo>
                  <a:pt x="0" y="11740417"/>
                </a:lnTo>
                <a:lnTo>
                  <a:pt x="0" y="0"/>
                </a:lnTo>
                <a:close/>
              </a:path>
            </a:pathLst>
          </a:custGeom>
          <a:blipFill>
            <a:blip r:embed="rId2"/>
            <a:stretch>
              <a:fillRect l="-9022" t="0" r="-30946" b="0"/>
            </a:stretch>
          </a:blipFill>
        </p:spPr>
      </p:sp>
      <p:sp>
        <p:nvSpPr>
          <p:cNvPr name="Freeform 3" id="3"/>
          <p:cNvSpPr/>
          <p:nvPr/>
        </p:nvSpPr>
        <p:spPr>
          <a:xfrm flipH="true" flipV="false" rot="-707026">
            <a:off x="13024051" y="1775554"/>
            <a:ext cx="8298194" cy="12596878"/>
          </a:xfrm>
          <a:custGeom>
            <a:avLst/>
            <a:gdLst/>
            <a:ahLst/>
            <a:cxnLst/>
            <a:rect r="r" b="b" t="t" l="l"/>
            <a:pathLst>
              <a:path h="12596878" w="8298194">
                <a:moveTo>
                  <a:pt x="8298194" y="0"/>
                </a:moveTo>
                <a:lnTo>
                  <a:pt x="0" y="0"/>
                </a:lnTo>
                <a:lnTo>
                  <a:pt x="0" y="12596879"/>
                </a:lnTo>
                <a:lnTo>
                  <a:pt x="8298194" y="12596879"/>
                </a:lnTo>
                <a:lnTo>
                  <a:pt x="8298194"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170203" y="-403180"/>
            <a:ext cx="4863666" cy="10910958"/>
            <a:chOff x="0" y="0"/>
            <a:chExt cx="1280966" cy="2873668"/>
          </a:xfrm>
        </p:grpSpPr>
        <p:sp>
          <p:nvSpPr>
            <p:cNvPr name="Freeform 5" id="5"/>
            <p:cNvSpPr/>
            <p:nvPr/>
          </p:nvSpPr>
          <p:spPr>
            <a:xfrm flipH="false" flipV="false" rot="0">
              <a:off x="0" y="0"/>
              <a:ext cx="1280966" cy="2873668"/>
            </a:xfrm>
            <a:custGeom>
              <a:avLst/>
              <a:gdLst/>
              <a:ahLst/>
              <a:cxnLst/>
              <a:rect r="r" b="b" t="t" l="l"/>
              <a:pathLst>
                <a:path h="2873668" w="1280966">
                  <a:moveTo>
                    <a:pt x="0" y="0"/>
                  </a:moveTo>
                  <a:lnTo>
                    <a:pt x="1280966" y="0"/>
                  </a:lnTo>
                  <a:lnTo>
                    <a:pt x="1280966" y="2873668"/>
                  </a:lnTo>
                  <a:lnTo>
                    <a:pt x="0" y="2873668"/>
                  </a:lnTo>
                  <a:close/>
                </a:path>
              </a:pathLst>
            </a:custGeom>
            <a:gradFill rotWithShape="true">
              <a:gsLst>
                <a:gs pos="0">
                  <a:srgbClr val="FFFFFF">
                    <a:alpha val="100000"/>
                  </a:srgbClr>
                </a:gs>
                <a:gs pos="100000">
                  <a:srgbClr val="FFFFFF">
                    <a:alpha val="0"/>
                  </a:srgbClr>
                </a:gs>
              </a:gsLst>
              <a:lin ang="0"/>
            </a:gradFill>
          </p:spPr>
        </p:sp>
        <p:sp>
          <p:nvSpPr>
            <p:cNvPr name="TextBox 6" id="6"/>
            <p:cNvSpPr txBox="true"/>
            <p:nvPr/>
          </p:nvSpPr>
          <p:spPr>
            <a:xfrm>
              <a:off x="0" y="-114300"/>
              <a:ext cx="1280966" cy="2987968"/>
            </a:xfrm>
            <a:prstGeom prst="rect">
              <a:avLst/>
            </a:prstGeom>
          </p:spPr>
          <p:txBody>
            <a:bodyPr anchor="ctr" rtlCol="false" tIns="50800" lIns="50800" bIns="50800" rIns="50800"/>
            <a:lstStyle/>
            <a:p>
              <a:pPr algn="ctr">
                <a:lnSpc>
                  <a:spcPts val="4168"/>
                </a:lnSpc>
              </a:pPr>
            </a:p>
          </p:txBody>
        </p:sp>
      </p:grpSp>
      <p:grpSp>
        <p:nvGrpSpPr>
          <p:cNvPr name="Group 7" id="7"/>
          <p:cNvGrpSpPr/>
          <p:nvPr/>
        </p:nvGrpSpPr>
        <p:grpSpPr>
          <a:xfrm rot="0">
            <a:off x="8170203" y="-403180"/>
            <a:ext cx="2997804" cy="10910958"/>
            <a:chOff x="0" y="0"/>
            <a:chExt cx="789545" cy="2873668"/>
          </a:xfrm>
        </p:grpSpPr>
        <p:sp>
          <p:nvSpPr>
            <p:cNvPr name="Freeform 8" id="8"/>
            <p:cNvSpPr/>
            <p:nvPr/>
          </p:nvSpPr>
          <p:spPr>
            <a:xfrm flipH="false" flipV="false" rot="0">
              <a:off x="0" y="0"/>
              <a:ext cx="789545" cy="2873668"/>
            </a:xfrm>
            <a:custGeom>
              <a:avLst/>
              <a:gdLst/>
              <a:ahLst/>
              <a:cxnLst/>
              <a:rect r="r" b="b" t="t" l="l"/>
              <a:pathLst>
                <a:path h="2873668" w="789545">
                  <a:moveTo>
                    <a:pt x="0" y="0"/>
                  </a:moveTo>
                  <a:lnTo>
                    <a:pt x="789545" y="0"/>
                  </a:lnTo>
                  <a:lnTo>
                    <a:pt x="789545" y="2873668"/>
                  </a:lnTo>
                  <a:lnTo>
                    <a:pt x="0" y="2873668"/>
                  </a:lnTo>
                  <a:close/>
                </a:path>
              </a:pathLst>
            </a:custGeom>
            <a:gradFill rotWithShape="true">
              <a:gsLst>
                <a:gs pos="0">
                  <a:srgbClr val="FFFFFF">
                    <a:alpha val="100000"/>
                  </a:srgbClr>
                </a:gs>
                <a:gs pos="100000">
                  <a:srgbClr val="FFFFFF">
                    <a:alpha val="0"/>
                  </a:srgbClr>
                </a:gs>
              </a:gsLst>
              <a:lin ang="0"/>
            </a:gradFill>
          </p:spPr>
        </p:sp>
        <p:sp>
          <p:nvSpPr>
            <p:cNvPr name="TextBox 9" id="9"/>
            <p:cNvSpPr txBox="true"/>
            <p:nvPr/>
          </p:nvSpPr>
          <p:spPr>
            <a:xfrm>
              <a:off x="0" y="-114300"/>
              <a:ext cx="789545" cy="2987968"/>
            </a:xfrm>
            <a:prstGeom prst="rect">
              <a:avLst/>
            </a:prstGeom>
          </p:spPr>
          <p:txBody>
            <a:bodyPr anchor="ctr" rtlCol="false" tIns="50800" lIns="50800" bIns="50800" rIns="50800"/>
            <a:lstStyle/>
            <a:p>
              <a:pPr algn="ctr">
                <a:lnSpc>
                  <a:spcPts val="4168"/>
                </a:lnSpc>
              </a:pPr>
            </a:p>
          </p:txBody>
        </p:sp>
      </p:grpSp>
      <p:sp>
        <p:nvSpPr>
          <p:cNvPr name="Freeform 10" id="10"/>
          <p:cNvSpPr/>
          <p:nvPr/>
        </p:nvSpPr>
        <p:spPr>
          <a:xfrm flipH="false" flipV="false" rot="0">
            <a:off x="5825501" y="7072979"/>
            <a:ext cx="1835171" cy="970347"/>
          </a:xfrm>
          <a:custGeom>
            <a:avLst/>
            <a:gdLst/>
            <a:ahLst/>
            <a:cxnLst/>
            <a:rect r="r" b="b" t="t" l="l"/>
            <a:pathLst>
              <a:path h="970347" w="1835171">
                <a:moveTo>
                  <a:pt x="0" y="0"/>
                </a:moveTo>
                <a:lnTo>
                  <a:pt x="1835172" y="0"/>
                </a:lnTo>
                <a:lnTo>
                  <a:pt x="1835172" y="970347"/>
                </a:lnTo>
                <a:lnTo>
                  <a:pt x="0" y="9703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2636234" y="8076430"/>
            <a:ext cx="1271251" cy="1276036"/>
          </a:xfrm>
          <a:custGeom>
            <a:avLst/>
            <a:gdLst/>
            <a:ahLst/>
            <a:cxnLst/>
            <a:rect r="r" b="b" t="t" l="l"/>
            <a:pathLst>
              <a:path h="1276036" w="1271251">
                <a:moveTo>
                  <a:pt x="0" y="0"/>
                </a:moveTo>
                <a:lnTo>
                  <a:pt x="1271251" y="0"/>
                </a:lnTo>
                <a:lnTo>
                  <a:pt x="1271251" y="1276036"/>
                </a:lnTo>
                <a:lnTo>
                  <a:pt x="0" y="1276036"/>
                </a:lnTo>
                <a:lnTo>
                  <a:pt x="0" y="0"/>
                </a:lnTo>
                <a:close/>
              </a:path>
            </a:pathLst>
          </a:custGeom>
          <a:blipFill>
            <a:blip r:embed="rId7">
              <a:alphaModFix amt="38000"/>
            </a:blip>
            <a:stretch>
              <a:fillRect l="0" t="0" r="0" b="0"/>
            </a:stretch>
          </a:blipFill>
        </p:spPr>
      </p:sp>
      <p:sp>
        <p:nvSpPr>
          <p:cNvPr name="Freeform 12" id="12"/>
          <p:cNvSpPr/>
          <p:nvPr/>
        </p:nvSpPr>
        <p:spPr>
          <a:xfrm flipH="false" flipV="false" rot="0">
            <a:off x="12006102" y="6982600"/>
            <a:ext cx="796856" cy="799855"/>
          </a:xfrm>
          <a:custGeom>
            <a:avLst/>
            <a:gdLst/>
            <a:ahLst/>
            <a:cxnLst/>
            <a:rect r="r" b="b" t="t" l="l"/>
            <a:pathLst>
              <a:path h="799855" w="796856">
                <a:moveTo>
                  <a:pt x="0" y="0"/>
                </a:moveTo>
                <a:lnTo>
                  <a:pt x="796856" y="0"/>
                </a:lnTo>
                <a:lnTo>
                  <a:pt x="796856" y="799856"/>
                </a:lnTo>
                <a:lnTo>
                  <a:pt x="0" y="799856"/>
                </a:lnTo>
                <a:lnTo>
                  <a:pt x="0" y="0"/>
                </a:lnTo>
                <a:close/>
              </a:path>
            </a:pathLst>
          </a:custGeom>
          <a:blipFill>
            <a:blip r:embed="rId7">
              <a:alphaModFix amt="38000"/>
            </a:blip>
            <a:stretch>
              <a:fillRect l="0" t="0" r="0" b="0"/>
            </a:stretch>
          </a:blipFill>
        </p:spPr>
      </p:sp>
      <p:grpSp>
        <p:nvGrpSpPr>
          <p:cNvPr name="Group 13" id="13"/>
          <p:cNvGrpSpPr/>
          <p:nvPr/>
        </p:nvGrpSpPr>
        <p:grpSpPr>
          <a:xfrm rot="0">
            <a:off x="14561870" y="-2042520"/>
            <a:ext cx="3187521" cy="318752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53232"/>
            </a:solidFill>
          </p:spPr>
        </p:sp>
        <p:sp>
          <p:nvSpPr>
            <p:cNvPr name="TextBox 15" id="15"/>
            <p:cNvSpPr txBox="true"/>
            <p:nvPr/>
          </p:nvSpPr>
          <p:spPr>
            <a:xfrm>
              <a:off x="76200" y="-38100"/>
              <a:ext cx="660400" cy="774700"/>
            </a:xfrm>
            <a:prstGeom prst="rect">
              <a:avLst/>
            </a:prstGeom>
          </p:spPr>
          <p:txBody>
            <a:bodyPr anchor="ctr" rtlCol="false" tIns="50800" lIns="50800" bIns="50800" rIns="50800"/>
            <a:lstStyle/>
            <a:p>
              <a:pPr algn="ctr">
                <a:lnSpc>
                  <a:spcPts val="4168"/>
                </a:lnSpc>
              </a:pPr>
            </a:p>
          </p:txBody>
        </p:sp>
      </p:grpSp>
      <p:grpSp>
        <p:nvGrpSpPr>
          <p:cNvPr name="Group 16" id="16"/>
          <p:cNvGrpSpPr/>
          <p:nvPr/>
        </p:nvGrpSpPr>
        <p:grpSpPr>
          <a:xfrm rot="0">
            <a:off x="17668299" y="408999"/>
            <a:ext cx="1239402" cy="123940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83922"/>
              </a:srgbClr>
            </a:solidFill>
          </p:spPr>
        </p:sp>
        <p:sp>
          <p:nvSpPr>
            <p:cNvPr name="TextBox 18" id="18"/>
            <p:cNvSpPr txBox="true"/>
            <p:nvPr/>
          </p:nvSpPr>
          <p:spPr>
            <a:xfrm>
              <a:off x="76200" y="-38100"/>
              <a:ext cx="660400" cy="774700"/>
            </a:xfrm>
            <a:prstGeom prst="rect">
              <a:avLst/>
            </a:prstGeom>
          </p:spPr>
          <p:txBody>
            <a:bodyPr anchor="ctr" rtlCol="false" tIns="50800" lIns="50800" bIns="50800" rIns="50800"/>
            <a:lstStyle/>
            <a:p>
              <a:pPr algn="ctr">
                <a:lnSpc>
                  <a:spcPts val="4168"/>
                </a:lnSpc>
              </a:pPr>
            </a:p>
          </p:txBody>
        </p:sp>
      </p:grpSp>
      <p:sp>
        <p:nvSpPr>
          <p:cNvPr name="Freeform 19" id="19"/>
          <p:cNvSpPr/>
          <p:nvPr/>
        </p:nvSpPr>
        <p:spPr>
          <a:xfrm flipH="false" flipV="false" rot="0">
            <a:off x="0" y="-727242"/>
            <a:ext cx="3351273" cy="3351273"/>
          </a:xfrm>
          <a:custGeom>
            <a:avLst/>
            <a:gdLst/>
            <a:ahLst/>
            <a:cxnLst/>
            <a:rect r="r" b="b" t="t" l="l"/>
            <a:pathLst>
              <a:path h="3351273" w="3351273">
                <a:moveTo>
                  <a:pt x="0" y="0"/>
                </a:moveTo>
                <a:lnTo>
                  <a:pt x="3351273" y="0"/>
                </a:lnTo>
                <a:lnTo>
                  <a:pt x="3351273" y="3351273"/>
                </a:lnTo>
                <a:lnTo>
                  <a:pt x="0" y="3351273"/>
                </a:lnTo>
                <a:lnTo>
                  <a:pt x="0" y="0"/>
                </a:lnTo>
                <a:close/>
              </a:path>
            </a:pathLst>
          </a:custGeom>
          <a:blipFill>
            <a:blip r:embed="rId8"/>
            <a:stretch>
              <a:fillRect l="0" t="0" r="0" b="0"/>
            </a:stretch>
          </a:blipFill>
        </p:spPr>
      </p:sp>
      <p:sp>
        <p:nvSpPr>
          <p:cNvPr name="TextBox 20" id="20"/>
          <p:cNvSpPr txBox="true"/>
          <p:nvPr/>
        </p:nvSpPr>
        <p:spPr>
          <a:xfrm rot="0">
            <a:off x="1190485" y="2127653"/>
            <a:ext cx="8275841" cy="3229544"/>
          </a:xfrm>
          <a:prstGeom prst="rect">
            <a:avLst/>
          </a:prstGeom>
        </p:spPr>
        <p:txBody>
          <a:bodyPr anchor="t" rtlCol="false" tIns="0" lIns="0" bIns="0" rIns="0">
            <a:spAutoFit/>
          </a:bodyPr>
          <a:lstStyle/>
          <a:p>
            <a:pPr algn="l">
              <a:lnSpc>
                <a:spcPts val="8533"/>
              </a:lnSpc>
            </a:pPr>
            <a:r>
              <a:rPr lang="en-US" sz="7052" b="true">
                <a:solidFill>
                  <a:srgbClr val="A21616"/>
                </a:solidFill>
                <a:latin typeface="Montserrat Ultra-Bold"/>
                <a:ea typeface="Montserrat Ultra-Bold"/>
                <a:cs typeface="Montserrat Ultra-Bold"/>
                <a:sym typeface="Montserrat Ultra-Bold"/>
              </a:rPr>
              <a:t>Techcombank Financial Dashboard</a:t>
            </a:r>
          </a:p>
        </p:txBody>
      </p:sp>
      <p:sp>
        <p:nvSpPr>
          <p:cNvPr name="TextBox 21" id="21"/>
          <p:cNvSpPr txBox="true"/>
          <p:nvPr/>
        </p:nvSpPr>
        <p:spPr>
          <a:xfrm rot="0">
            <a:off x="1190485" y="5291031"/>
            <a:ext cx="7446199" cy="1428627"/>
          </a:xfrm>
          <a:prstGeom prst="rect">
            <a:avLst/>
          </a:prstGeom>
        </p:spPr>
        <p:txBody>
          <a:bodyPr anchor="t" rtlCol="false" tIns="0" lIns="0" bIns="0" rIns="0">
            <a:spAutoFit/>
          </a:bodyPr>
          <a:lstStyle/>
          <a:p>
            <a:pPr algn="just">
              <a:lnSpc>
                <a:spcPts val="3828"/>
              </a:lnSpc>
            </a:pPr>
            <a:r>
              <a:rPr lang="en-US" sz="2251" b="true">
                <a:solidFill>
                  <a:srgbClr val="000000"/>
                </a:solidFill>
                <a:latin typeface="Montserrat Medium"/>
                <a:ea typeface="Montserrat Medium"/>
                <a:cs typeface="Montserrat Medium"/>
                <a:sym typeface="Montserrat Medium"/>
              </a:rPr>
              <a:t>A visualization of Techcombank, one of the leading commercial joint stock bank in Vietnam, and its annual financial indicators from 2011 to 2023. </a:t>
            </a:r>
          </a:p>
        </p:txBody>
      </p:sp>
      <p:sp>
        <p:nvSpPr>
          <p:cNvPr name="TextBox 22" id="22"/>
          <p:cNvSpPr txBox="true"/>
          <p:nvPr/>
        </p:nvSpPr>
        <p:spPr>
          <a:xfrm rot="0">
            <a:off x="1190485" y="7025354"/>
            <a:ext cx="3240573" cy="417965"/>
          </a:xfrm>
          <a:prstGeom prst="rect">
            <a:avLst/>
          </a:prstGeom>
        </p:spPr>
        <p:txBody>
          <a:bodyPr anchor="t" rtlCol="false" tIns="0" lIns="0" bIns="0" rIns="0">
            <a:spAutoFit/>
          </a:bodyPr>
          <a:lstStyle/>
          <a:p>
            <a:pPr algn="l">
              <a:lnSpc>
                <a:spcPts val="3404"/>
              </a:lnSpc>
            </a:pPr>
            <a:r>
              <a:rPr lang="en-US" sz="2431" b="true">
                <a:solidFill>
                  <a:srgbClr val="A21616"/>
                </a:solidFill>
                <a:latin typeface="Montserrat Semi-Bold"/>
                <a:ea typeface="Montserrat Semi-Bold"/>
                <a:cs typeface="Montserrat Semi-Bold"/>
                <a:sym typeface="Montserrat Semi-Bold"/>
              </a:rPr>
              <a:t>Created by:</a:t>
            </a:r>
          </a:p>
        </p:txBody>
      </p:sp>
      <p:sp>
        <p:nvSpPr>
          <p:cNvPr name="TextBox 23" id="23"/>
          <p:cNvSpPr txBox="true"/>
          <p:nvPr/>
        </p:nvSpPr>
        <p:spPr>
          <a:xfrm rot="0">
            <a:off x="1190485" y="7576352"/>
            <a:ext cx="3240573" cy="843102"/>
          </a:xfrm>
          <a:prstGeom prst="rect">
            <a:avLst/>
          </a:prstGeom>
        </p:spPr>
        <p:txBody>
          <a:bodyPr anchor="t" rtlCol="false" tIns="0" lIns="0" bIns="0" rIns="0">
            <a:spAutoFit/>
          </a:bodyPr>
          <a:lstStyle/>
          <a:p>
            <a:pPr algn="l">
              <a:lnSpc>
                <a:spcPts val="3404"/>
              </a:lnSpc>
            </a:pPr>
            <a:r>
              <a:rPr lang="en-US" sz="2431" b="true">
                <a:solidFill>
                  <a:srgbClr val="000000"/>
                </a:solidFill>
                <a:latin typeface="Montserrat Bold"/>
                <a:ea typeface="Montserrat Bold"/>
                <a:cs typeface="Montserrat Bold"/>
                <a:sym typeface="Montserrat Bold"/>
              </a:rPr>
              <a:t>Hoàng Quang Huy</a:t>
            </a:r>
          </a:p>
          <a:p>
            <a:pPr algn="l">
              <a:lnSpc>
                <a:spcPts val="3404"/>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09619" y="4255340"/>
            <a:ext cx="10672982" cy="5002960"/>
          </a:xfrm>
          <a:custGeom>
            <a:avLst/>
            <a:gdLst/>
            <a:ahLst/>
            <a:cxnLst/>
            <a:rect r="r" b="b" t="t" l="l"/>
            <a:pathLst>
              <a:path h="5002960" w="10672982">
                <a:moveTo>
                  <a:pt x="0" y="0"/>
                </a:moveTo>
                <a:lnTo>
                  <a:pt x="10672982" y="0"/>
                </a:lnTo>
                <a:lnTo>
                  <a:pt x="10672982" y="5002960"/>
                </a:lnTo>
                <a:lnTo>
                  <a:pt x="0" y="50029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3730" y="4255340"/>
            <a:ext cx="3407250" cy="5002960"/>
          </a:xfrm>
          <a:custGeom>
            <a:avLst/>
            <a:gdLst/>
            <a:ahLst/>
            <a:cxnLst/>
            <a:rect r="r" b="b" t="t" l="l"/>
            <a:pathLst>
              <a:path h="5002960" w="3407250">
                <a:moveTo>
                  <a:pt x="0" y="0"/>
                </a:moveTo>
                <a:lnTo>
                  <a:pt x="3407251" y="0"/>
                </a:lnTo>
                <a:lnTo>
                  <a:pt x="3407251" y="5002960"/>
                </a:lnTo>
                <a:lnTo>
                  <a:pt x="0" y="5002960"/>
                </a:lnTo>
                <a:lnTo>
                  <a:pt x="0" y="0"/>
                </a:lnTo>
                <a:close/>
              </a:path>
            </a:pathLst>
          </a:custGeom>
          <a:blipFill>
            <a:blip r:embed="rId4">
              <a:extLst>
                <a:ext uri="{96DAC541-7B7A-43D3-8B79-37D633B846F1}">
                  <asvg:svgBlip xmlns:asvg="http://schemas.microsoft.com/office/drawing/2016/SVG/main" r:embed="rId5"/>
                </a:ext>
              </a:extLst>
            </a:blip>
            <a:stretch>
              <a:fillRect l="0" t="0" r="-213243" b="0"/>
            </a:stretch>
          </a:blipFill>
        </p:spPr>
      </p:sp>
      <p:sp>
        <p:nvSpPr>
          <p:cNvPr name="Freeform 4" id="4"/>
          <p:cNvSpPr/>
          <p:nvPr/>
        </p:nvSpPr>
        <p:spPr>
          <a:xfrm flipH="true" flipV="false" rot="0">
            <a:off x="13597019" y="4255340"/>
            <a:ext cx="3407250" cy="5002960"/>
          </a:xfrm>
          <a:custGeom>
            <a:avLst/>
            <a:gdLst/>
            <a:ahLst/>
            <a:cxnLst/>
            <a:rect r="r" b="b" t="t" l="l"/>
            <a:pathLst>
              <a:path h="5002960" w="3407250">
                <a:moveTo>
                  <a:pt x="3407251" y="0"/>
                </a:moveTo>
                <a:lnTo>
                  <a:pt x="0" y="0"/>
                </a:lnTo>
                <a:lnTo>
                  <a:pt x="0" y="5002960"/>
                </a:lnTo>
                <a:lnTo>
                  <a:pt x="3407251" y="5002960"/>
                </a:lnTo>
                <a:lnTo>
                  <a:pt x="3407251" y="0"/>
                </a:lnTo>
                <a:close/>
              </a:path>
            </a:pathLst>
          </a:custGeom>
          <a:blipFill>
            <a:blip r:embed="rId6">
              <a:extLst>
                <a:ext uri="{96DAC541-7B7A-43D3-8B79-37D633B846F1}">
                  <asvg:svgBlip xmlns:asvg="http://schemas.microsoft.com/office/drawing/2016/SVG/main" r:embed="rId7"/>
                </a:ext>
              </a:extLst>
            </a:blip>
            <a:stretch>
              <a:fillRect l="0" t="0" r="-213243" b="0"/>
            </a:stretch>
          </a:blipFill>
        </p:spPr>
      </p:sp>
      <p:sp>
        <p:nvSpPr>
          <p:cNvPr name="Freeform 5" id="5"/>
          <p:cNvSpPr/>
          <p:nvPr/>
        </p:nvSpPr>
        <p:spPr>
          <a:xfrm flipH="false" flipV="false" rot="0">
            <a:off x="8583754" y="6036943"/>
            <a:ext cx="1324711" cy="1195552"/>
          </a:xfrm>
          <a:custGeom>
            <a:avLst/>
            <a:gdLst/>
            <a:ahLst/>
            <a:cxnLst/>
            <a:rect r="r" b="b" t="t" l="l"/>
            <a:pathLst>
              <a:path h="1195552" w="1324711">
                <a:moveTo>
                  <a:pt x="0" y="0"/>
                </a:moveTo>
                <a:lnTo>
                  <a:pt x="1324712" y="0"/>
                </a:lnTo>
                <a:lnTo>
                  <a:pt x="1324712" y="1195552"/>
                </a:lnTo>
                <a:lnTo>
                  <a:pt x="0" y="11955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9372935" y="-878188"/>
            <a:ext cx="11334665" cy="7400591"/>
          </a:xfrm>
          <a:custGeom>
            <a:avLst/>
            <a:gdLst/>
            <a:ahLst/>
            <a:cxnLst/>
            <a:rect r="r" b="b" t="t" l="l"/>
            <a:pathLst>
              <a:path h="7400591" w="11334665">
                <a:moveTo>
                  <a:pt x="11334665" y="0"/>
                </a:moveTo>
                <a:lnTo>
                  <a:pt x="0" y="0"/>
                </a:lnTo>
                <a:lnTo>
                  <a:pt x="0" y="7400592"/>
                </a:lnTo>
                <a:lnTo>
                  <a:pt x="11334665" y="7400592"/>
                </a:lnTo>
                <a:lnTo>
                  <a:pt x="11334665"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190485" y="1331504"/>
            <a:ext cx="8935411" cy="991871"/>
          </a:xfrm>
          <a:prstGeom prst="rect">
            <a:avLst/>
          </a:prstGeom>
        </p:spPr>
        <p:txBody>
          <a:bodyPr anchor="t" rtlCol="false" tIns="0" lIns="0" bIns="0" rIns="0">
            <a:spAutoFit/>
          </a:bodyPr>
          <a:lstStyle/>
          <a:p>
            <a:pPr algn="l">
              <a:lnSpc>
                <a:spcPts val="7863"/>
              </a:lnSpc>
            </a:pPr>
            <a:r>
              <a:rPr lang="en-US" sz="6498" b="true">
                <a:solidFill>
                  <a:srgbClr val="A21616"/>
                </a:solidFill>
                <a:latin typeface="Montserrat Bold"/>
                <a:ea typeface="Montserrat Bold"/>
                <a:cs typeface="Montserrat Bold"/>
                <a:sym typeface="Montserrat Bold"/>
              </a:rPr>
              <a:t>The Outline</a:t>
            </a:r>
          </a:p>
        </p:txBody>
      </p:sp>
      <p:sp>
        <p:nvSpPr>
          <p:cNvPr name="TextBox 8" id="8"/>
          <p:cNvSpPr txBox="true"/>
          <p:nvPr/>
        </p:nvSpPr>
        <p:spPr>
          <a:xfrm rot="0">
            <a:off x="1606143" y="4759083"/>
            <a:ext cx="5548689" cy="568326"/>
          </a:xfrm>
          <a:prstGeom prst="rect">
            <a:avLst/>
          </a:prstGeom>
        </p:spPr>
        <p:txBody>
          <a:bodyPr anchor="t" rtlCol="false" tIns="0" lIns="0" bIns="0" rIns="0">
            <a:spAutoFit/>
          </a:bodyPr>
          <a:lstStyle/>
          <a:p>
            <a:pPr algn="l">
              <a:lnSpc>
                <a:spcPts val="4929"/>
              </a:lnSpc>
            </a:pPr>
            <a:r>
              <a:rPr lang="en-US" sz="2899" b="true">
                <a:solidFill>
                  <a:srgbClr val="FFFFFF"/>
                </a:solidFill>
                <a:latin typeface="Montserrat Medium"/>
                <a:ea typeface="Montserrat Medium"/>
                <a:cs typeface="Montserrat Medium"/>
                <a:sym typeface="Montserrat Medium"/>
              </a:rPr>
              <a:t>TOI, OPEX, CIR, ROE and ROA </a:t>
            </a:r>
          </a:p>
        </p:txBody>
      </p:sp>
      <p:sp>
        <p:nvSpPr>
          <p:cNvPr name="TextBox 9" id="9"/>
          <p:cNvSpPr txBox="true"/>
          <p:nvPr/>
        </p:nvSpPr>
        <p:spPr>
          <a:xfrm rot="0">
            <a:off x="11222573" y="4771703"/>
            <a:ext cx="5442234" cy="1247775"/>
          </a:xfrm>
          <a:prstGeom prst="rect">
            <a:avLst/>
          </a:prstGeom>
        </p:spPr>
        <p:txBody>
          <a:bodyPr anchor="t" rtlCol="false" tIns="0" lIns="0" bIns="0" rIns="0">
            <a:spAutoFit/>
          </a:bodyPr>
          <a:lstStyle/>
          <a:p>
            <a:pPr algn="r">
              <a:lnSpc>
                <a:spcPts val="5100"/>
              </a:lnSpc>
            </a:pPr>
            <a:r>
              <a:rPr lang="en-US" sz="3000" b="true">
                <a:solidFill>
                  <a:srgbClr val="FFFFFF"/>
                </a:solidFill>
                <a:latin typeface="Montserrat Medium"/>
                <a:ea typeface="Montserrat Medium"/>
                <a:cs typeface="Montserrat Medium"/>
                <a:sym typeface="Montserrat Medium"/>
              </a:rPr>
              <a:t>OPEX analysis</a:t>
            </a:r>
          </a:p>
          <a:p>
            <a:pPr algn="r">
              <a:lnSpc>
                <a:spcPts val="5100"/>
              </a:lnSpc>
            </a:pPr>
          </a:p>
        </p:txBody>
      </p:sp>
      <p:sp>
        <p:nvSpPr>
          <p:cNvPr name="TextBox 10" id="10"/>
          <p:cNvSpPr txBox="true"/>
          <p:nvPr/>
        </p:nvSpPr>
        <p:spPr>
          <a:xfrm rot="0">
            <a:off x="1606143" y="7930455"/>
            <a:ext cx="5548689" cy="1187451"/>
          </a:xfrm>
          <a:prstGeom prst="rect">
            <a:avLst/>
          </a:prstGeom>
        </p:spPr>
        <p:txBody>
          <a:bodyPr anchor="t" rtlCol="false" tIns="0" lIns="0" bIns="0" rIns="0">
            <a:spAutoFit/>
          </a:bodyPr>
          <a:lstStyle/>
          <a:p>
            <a:pPr algn="l">
              <a:lnSpc>
                <a:spcPts val="4929"/>
              </a:lnSpc>
            </a:pPr>
            <a:r>
              <a:rPr lang="en-US" sz="2899" b="true">
                <a:solidFill>
                  <a:srgbClr val="FFFFFF"/>
                </a:solidFill>
                <a:latin typeface="Montserrat Medium"/>
                <a:ea typeface="Montserrat Medium"/>
                <a:cs typeface="Montserrat Medium"/>
                <a:sym typeface="Montserrat Medium"/>
              </a:rPr>
              <a:t>TOI and CIR</a:t>
            </a:r>
          </a:p>
          <a:p>
            <a:pPr algn="l">
              <a:lnSpc>
                <a:spcPts val="4929"/>
              </a:lnSpc>
            </a:pPr>
            <a:r>
              <a:rPr lang="en-US" sz="2899" b="true">
                <a:solidFill>
                  <a:srgbClr val="FFFFFF"/>
                </a:solidFill>
                <a:latin typeface="Montserrat Medium"/>
                <a:ea typeface="Montserrat Medium"/>
                <a:cs typeface="Montserrat Medium"/>
                <a:sym typeface="Montserrat Medium"/>
              </a:rPr>
              <a:t>ROE and ROA comparison </a:t>
            </a:r>
          </a:p>
        </p:txBody>
      </p:sp>
      <p:sp>
        <p:nvSpPr>
          <p:cNvPr name="TextBox 11" id="11"/>
          <p:cNvSpPr txBox="true"/>
          <p:nvPr/>
        </p:nvSpPr>
        <p:spPr>
          <a:xfrm rot="0">
            <a:off x="11222573" y="7920930"/>
            <a:ext cx="5442234" cy="1247775"/>
          </a:xfrm>
          <a:prstGeom prst="rect">
            <a:avLst/>
          </a:prstGeom>
        </p:spPr>
        <p:txBody>
          <a:bodyPr anchor="t" rtlCol="false" tIns="0" lIns="0" bIns="0" rIns="0">
            <a:spAutoFit/>
          </a:bodyPr>
          <a:lstStyle/>
          <a:p>
            <a:pPr algn="r">
              <a:lnSpc>
                <a:spcPts val="5100"/>
              </a:lnSpc>
            </a:pPr>
            <a:r>
              <a:rPr lang="en-US" sz="3000" b="true">
                <a:solidFill>
                  <a:srgbClr val="FFFFFF"/>
                </a:solidFill>
                <a:latin typeface="Montserrat Medium"/>
                <a:ea typeface="Montserrat Medium"/>
                <a:cs typeface="Montserrat Medium"/>
                <a:sym typeface="Montserrat Medium"/>
              </a:rPr>
              <a:t>NIM and the Correlation between NIM and CIR</a:t>
            </a:r>
          </a:p>
        </p:txBody>
      </p:sp>
      <p:sp>
        <p:nvSpPr>
          <p:cNvPr name="TextBox 12" id="12"/>
          <p:cNvSpPr txBox="true"/>
          <p:nvPr/>
        </p:nvSpPr>
        <p:spPr>
          <a:xfrm rot="0">
            <a:off x="1606143" y="4301758"/>
            <a:ext cx="3342956" cy="446712"/>
          </a:xfrm>
          <a:prstGeom prst="rect">
            <a:avLst/>
          </a:prstGeom>
        </p:spPr>
        <p:txBody>
          <a:bodyPr anchor="t" rtlCol="false" tIns="0" lIns="0" bIns="0" rIns="0">
            <a:spAutoFit/>
          </a:bodyPr>
          <a:lstStyle/>
          <a:p>
            <a:pPr algn="l">
              <a:lnSpc>
                <a:spcPts val="3888"/>
              </a:lnSpc>
            </a:pPr>
            <a:r>
              <a:rPr lang="en-US" sz="2287" spc="228" b="true">
                <a:solidFill>
                  <a:srgbClr val="FFFFFF"/>
                </a:solidFill>
                <a:latin typeface="Montserrat Bold"/>
                <a:ea typeface="Montserrat Bold"/>
                <a:cs typeface="Montserrat Bold"/>
                <a:sym typeface="Montserrat Bold"/>
              </a:rPr>
              <a:t>Basic indicators</a:t>
            </a:r>
          </a:p>
        </p:txBody>
      </p:sp>
      <p:sp>
        <p:nvSpPr>
          <p:cNvPr name="TextBox 13" id="13"/>
          <p:cNvSpPr txBox="true"/>
          <p:nvPr/>
        </p:nvSpPr>
        <p:spPr>
          <a:xfrm rot="0">
            <a:off x="12506386" y="4301758"/>
            <a:ext cx="4158421" cy="446712"/>
          </a:xfrm>
          <a:prstGeom prst="rect">
            <a:avLst/>
          </a:prstGeom>
        </p:spPr>
        <p:txBody>
          <a:bodyPr anchor="t" rtlCol="false" tIns="0" lIns="0" bIns="0" rIns="0">
            <a:spAutoFit/>
          </a:bodyPr>
          <a:lstStyle/>
          <a:p>
            <a:pPr algn="r">
              <a:lnSpc>
                <a:spcPts val="3888"/>
              </a:lnSpc>
            </a:pPr>
            <a:r>
              <a:rPr lang="en-US" b="true" sz="2287" spc="228">
                <a:solidFill>
                  <a:srgbClr val="FFFFFF"/>
                </a:solidFill>
                <a:latin typeface="Montserrat Bold"/>
                <a:ea typeface="Montserrat Bold"/>
                <a:cs typeface="Montserrat Bold"/>
                <a:sym typeface="Montserrat Bold"/>
              </a:rPr>
              <a:t>Cash Flow Analysis</a:t>
            </a:r>
          </a:p>
        </p:txBody>
      </p:sp>
      <p:sp>
        <p:nvSpPr>
          <p:cNvPr name="TextBox 14" id="14"/>
          <p:cNvSpPr txBox="true"/>
          <p:nvPr/>
        </p:nvSpPr>
        <p:spPr>
          <a:xfrm rot="0">
            <a:off x="1606143" y="7458734"/>
            <a:ext cx="3658468" cy="446732"/>
          </a:xfrm>
          <a:prstGeom prst="rect">
            <a:avLst/>
          </a:prstGeom>
        </p:spPr>
        <p:txBody>
          <a:bodyPr anchor="t" rtlCol="false" tIns="0" lIns="0" bIns="0" rIns="0">
            <a:spAutoFit/>
          </a:bodyPr>
          <a:lstStyle/>
          <a:p>
            <a:pPr algn="l">
              <a:lnSpc>
                <a:spcPts val="3888"/>
              </a:lnSpc>
            </a:pPr>
            <a:r>
              <a:rPr lang="en-US" sz="2287" spc="228" b="true">
                <a:solidFill>
                  <a:srgbClr val="FFFFFF"/>
                </a:solidFill>
                <a:latin typeface="Montserrat Bold"/>
                <a:ea typeface="Montserrat Bold"/>
                <a:cs typeface="Montserrat Bold"/>
                <a:sym typeface="Montserrat Bold"/>
              </a:rPr>
              <a:t>Trend Analysis</a:t>
            </a:r>
          </a:p>
        </p:txBody>
      </p:sp>
      <p:sp>
        <p:nvSpPr>
          <p:cNvPr name="TextBox 15" id="15"/>
          <p:cNvSpPr txBox="true"/>
          <p:nvPr/>
        </p:nvSpPr>
        <p:spPr>
          <a:xfrm rot="0">
            <a:off x="12506386" y="7458734"/>
            <a:ext cx="4158421" cy="446712"/>
          </a:xfrm>
          <a:prstGeom prst="rect">
            <a:avLst/>
          </a:prstGeom>
        </p:spPr>
        <p:txBody>
          <a:bodyPr anchor="t" rtlCol="false" tIns="0" lIns="0" bIns="0" rIns="0">
            <a:spAutoFit/>
          </a:bodyPr>
          <a:lstStyle/>
          <a:p>
            <a:pPr algn="r">
              <a:lnSpc>
                <a:spcPts val="3888"/>
              </a:lnSpc>
            </a:pPr>
            <a:r>
              <a:rPr lang="en-US" b="true" sz="2287" spc="228">
                <a:solidFill>
                  <a:srgbClr val="FFFFFF"/>
                </a:solidFill>
                <a:latin typeface="Montserrat Bold"/>
                <a:ea typeface="Montserrat Bold"/>
                <a:cs typeface="Montserrat Bold"/>
                <a:sym typeface="Montserrat Bold"/>
              </a:rPr>
              <a:t>Further Analysis</a:t>
            </a:r>
          </a:p>
        </p:txBody>
      </p:sp>
      <p:sp>
        <p:nvSpPr>
          <p:cNvPr name="Freeform 16" id="16"/>
          <p:cNvSpPr/>
          <p:nvPr/>
        </p:nvSpPr>
        <p:spPr>
          <a:xfrm flipH="false" flipV="false" rot="0">
            <a:off x="11380980" y="1471791"/>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471003"/>
            <a:ext cx="25816251" cy="6092635"/>
          </a:xfrm>
          <a:custGeom>
            <a:avLst/>
            <a:gdLst/>
            <a:ahLst/>
            <a:cxnLst/>
            <a:rect r="r" b="b" t="t" l="l"/>
            <a:pathLst>
              <a:path h="6092635" w="25816251">
                <a:moveTo>
                  <a:pt x="0" y="6092635"/>
                </a:moveTo>
                <a:lnTo>
                  <a:pt x="25816251" y="6092635"/>
                </a:lnTo>
                <a:lnTo>
                  <a:pt x="25816251" y="0"/>
                </a:lnTo>
                <a:lnTo>
                  <a:pt x="0" y="0"/>
                </a:lnTo>
                <a:lnTo>
                  <a:pt x="0" y="60926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1020" y="-471003"/>
            <a:ext cx="1494080" cy="1499703"/>
          </a:xfrm>
          <a:custGeom>
            <a:avLst/>
            <a:gdLst/>
            <a:ahLst/>
            <a:cxnLst/>
            <a:rect r="r" b="b" t="t" l="l"/>
            <a:pathLst>
              <a:path h="1499703" w="1494080">
                <a:moveTo>
                  <a:pt x="0" y="0"/>
                </a:moveTo>
                <a:lnTo>
                  <a:pt x="1494080" y="0"/>
                </a:lnTo>
                <a:lnTo>
                  <a:pt x="1494080" y="1499703"/>
                </a:lnTo>
                <a:lnTo>
                  <a:pt x="0" y="1499703"/>
                </a:lnTo>
                <a:lnTo>
                  <a:pt x="0" y="0"/>
                </a:lnTo>
                <a:close/>
              </a:path>
            </a:pathLst>
          </a:custGeom>
          <a:blipFill>
            <a:blip r:embed="rId4">
              <a:alphaModFix amt="15000"/>
            </a:blip>
            <a:stretch>
              <a:fillRect l="0" t="0" r="0" b="0"/>
            </a:stretch>
          </a:blipFill>
        </p:spPr>
      </p:sp>
      <p:grpSp>
        <p:nvGrpSpPr>
          <p:cNvPr name="Group 4" id="4"/>
          <p:cNvGrpSpPr/>
          <p:nvPr/>
        </p:nvGrpSpPr>
        <p:grpSpPr>
          <a:xfrm rot="0">
            <a:off x="16573355" y="-324305"/>
            <a:ext cx="1138906" cy="113890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38100"/>
              <a:ext cx="660400" cy="774700"/>
            </a:xfrm>
            <a:prstGeom prst="rect">
              <a:avLst/>
            </a:prstGeom>
          </p:spPr>
          <p:txBody>
            <a:bodyPr anchor="ctr" rtlCol="false" tIns="50800" lIns="50800" bIns="50800" rIns="50800"/>
            <a:lstStyle/>
            <a:p>
              <a:pPr algn="ctr">
                <a:lnSpc>
                  <a:spcPts val="4168"/>
                </a:lnSpc>
              </a:pPr>
            </a:p>
          </p:txBody>
        </p:sp>
      </p:grpSp>
      <p:sp>
        <p:nvSpPr>
          <p:cNvPr name="Freeform 7" id="7"/>
          <p:cNvSpPr/>
          <p:nvPr/>
        </p:nvSpPr>
        <p:spPr>
          <a:xfrm flipH="false" flipV="false" rot="0">
            <a:off x="9437223" y="5143500"/>
            <a:ext cx="9022476" cy="3569057"/>
          </a:xfrm>
          <a:custGeom>
            <a:avLst/>
            <a:gdLst/>
            <a:ahLst/>
            <a:cxnLst/>
            <a:rect r="r" b="b" t="t" l="l"/>
            <a:pathLst>
              <a:path h="3569057" w="9022476">
                <a:moveTo>
                  <a:pt x="0" y="0"/>
                </a:moveTo>
                <a:lnTo>
                  <a:pt x="9022476" y="0"/>
                </a:lnTo>
                <a:lnTo>
                  <a:pt x="9022476" y="3569057"/>
                </a:lnTo>
                <a:lnTo>
                  <a:pt x="0" y="3569057"/>
                </a:lnTo>
                <a:lnTo>
                  <a:pt x="0" y="0"/>
                </a:lnTo>
                <a:close/>
              </a:path>
            </a:pathLst>
          </a:custGeom>
          <a:blipFill>
            <a:blip r:embed="rId5"/>
            <a:stretch>
              <a:fillRect l="0" t="0" r="0" b="0"/>
            </a:stretch>
          </a:blipFill>
        </p:spPr>
      </p:sp>
      <p:sp>
        <p:nvSpPr>
          <p:cNvPr name="TextBox 8" id="8"/>
          <p:cNvSpPr txBox="true"/>
          <p:nvPr/>
        </p:nvSpPr>
        <p:spPr>
          <a:xfrm rot="0">
            <a:off x="1028700" y="1076325"/>
            <a:ext cx="14870432" cy="1029681"/>
          </a:xfrm>
          <a:prstGeom prst="rect">
            <a:avLst/>
          </a:prstGeom>
        </p:spPr>
        <p:txBody>
          <a:bodyPr anchor="t" rtlCol="false" tIns="0" lIns="0" bIns="0" rIns="0">
            <a:spAutoFit/>
          </a:bodyPr>
          <a:lstStyle/>
          <a:p>
            <a:pPr algn="l">
              <a:lnSpc>
                <a:spcPts val="8140"/>
              </a:lnSpc>
            </a:pPr>
            <a:r>
              <a:rPr lang="en-US" sz="6727" b="true">
                <a:solidFill>
                  <a:srgbClr val="FFFFFF"/>
                </a:solidFill>
                <a:latin typeface="Montserrat Bold"/>
                <a:ea typeface="Montserrat Bold"/>
                <a:cs typeface="Montserrat Bold"/>
                <a:sym typeface="Montserrat Bold"/>
              </a:rPr>
              <a:t>Basic Indicators: TOI Meaning</a:t>
            </a:r>
          </a:p>
        </p:txBody>
      </p:sp>
      <p:sp>
        <p:nvSpPr>
          <p:cNvPr name="TextBox 9" id="9"/>
          <p:cNvSpPr txBox="true"/>
          <p:nvPr/>
        </p:nvSpPr>
        <p:spPr>
          <a:xfrm rot="0">
            <a:off x="460490" y="5468745"/>
            <a:ext cx="8683510" cy="4019551"/>
          </a:xfrm>
          <a:prstGeom prst="rect">
            <a:avLst/>
          </a:prstGeom>
        </p:spPr>
        <p:txBody>
          <a:bodyPr anchor="t" rtlCol="false" tIns="0" lIns="0" bIns="0" rIns="0">
            <a:spAutoFit/>
          </a:bodyPr>
          <a:lstStyle/>
          <a:p>
            <a:pPr algn="just">
              <a:lnSpc>
                <a:spcPts val="4589"/>
              </a:lnSpc>
            </a:pPr>
            <a:r>
              <a:rPr lang="en-US" sz="2699" b="true">
                <a:solidFill>
                  <a:srgbClr val="000000"/>
                </a:solidFill>
                <a:latin typeface="Montserrat Bold"/>
                <a:ea typeface="Montserrat Bold"/>
                <a:cs typeface="Montserrat Bold"/>
                <a:sym typeface="Montserrat Bold"/>
              </a:rPr>
              <a:t>TOI (or Total Operating Income)</a:t>
            </a:r>
            <a:r>
              <a:rPr lang="en-US" sz="2699" b="true">
                <a:solidFill>
                  <a:srgbClr val="000000"/>
                </a:solidFill>
                <a:latin typeface="Montserrat Medium"/>
                <a:ea typeface="Montserrat Medium"/>
                <a:cs typeface="Montserrat Medium"/>
                <a:sym typeface="Montserrat Medium"/>
              </a:rPr>
              <a:t> is a metric representing the </a:t>
            </a:r>
            <a:r>
              <a:rPr lang="en-US" sz="2699" b="true">
                <a:solidFill>
                  <a:srgbClr val="000000"/>
                </a:solidFill>
                <a:latin typeface="Montserrat Bold"/>
                <a:ea typeface="Montserrat Bold"/>
                <a:cs typeface="Montserrat Bold"/>
                <a:sym typeface="Montserrat Bold"/>
              </a:rPr>
              <a:t>total revenue of the bank</a:t>
            </a:r>
            <a:r>
              <a:rPr lang="en-US" sz="2699" b="true">
                <a:solidFill>
                  <a:srgbClr val="000000"/>
                </a:solidFill>
                <a:latin typeface="Montserrat Medium"/>
                <a:ea typeface="Montserrat Medium"/>
                <a:cs typeface="Montserrat Medium"/>
                <a:sym typeface="Montserrat Medium"/>
              </a:rPr>
              <a:t> including Net Interest Income,  Net Fee and Commission Income, Net Other Operating Income,  Net Gain/Loss from Forex Trading, Net Gain/Loss from Trading Securities and Net Gain/Loss from Investment Securities.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471003"/>
            <a:ext cx="25816251" cy="6092635"/>
          </a:xfrm>
          <a:custGeom>
            <a:avLst/>
            <a:gdLst/>
            <a:ahLst/>
            <a:cxnLst/>
            <a:rect r="r" b="b" t="t" l="l"/>
            <a:pathLst>
              <a:path h="6092635" w="25816251">
                <a:moveTo>
                  <a:pt x="0" y="6092635"/>
                </a:moveTo>
                <a:lnTo>
                  <a:pt x="25816251" y="6092635"/>
                </a:lnTo>
                <a:lnTo>
                  <a:pt x="25816251" y="0"/>
                </a:lnTo>
                <a:lnTo>
                  <a:pt x="0" y="0"/>
                </a:lnTo>
                <a:lnTo>
                  <a:pt x="0" y="60926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1020" y="-471003"/>
            <a:ext cx="1494080" cy="1499703"/>
          </a:xfrm>
          <a:custGeom>
            <a:avLst/>
            <a:gdLst/>
            <a:ahLst/>
            <a:cxnLst/>
            <a:rect r="r" b="b" t="t" l="l"/>
            <a:pathLst>
              <a:path h="1499703" w="1494080">
                <a:moveTo>
                  <a:pt x="0" y="0"/>
                </a:moveTo>
                <a:lnTo>
                  <a:pt x="1494080" y="0"/>
                </a:lnTo>
                <a:lnTo>
                  <a:pt x="1494080" y="1499703"/>
                </a:lnTo>
                <a:lnTo>
                  <a:pt x="0" y="1499703"/>
                </a:lnTo>
                <a:lnTo>
                  <a:pt x="0" y="0"/>
                </a:lnTo>
                <a:close/>
              </a:path>
            </a:pathLst>
          </a:custGeom>
          <a:blipFill>
            <a:blip r:embed="rId4">
              <a:alphaModFix amt="15000"/>
            </a:blip>
            <a:stretch>
              <a:fillRect l="0" t="0" r="0" b="0"/>
            </a:stretch>
          </a:blipFill>
        </p:spPr>
      </p:sp>
      <p:grpSp>
        <p:nvGrpSpPr>
          <p:cNvPr name="Group 4" id="4"/>
          <p:cNvGrpSpPr/>
          <p:nvPr/>
        </p:nvGrpSpPr>
        <p:grpSpPr>
          <a:xfrm rot="0">
            <a:off x="16573355" y="-324305"/>
            <a:ext cx="1138906" cy="113890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38100"/>
              <a:ext cx="660400" cy="774700"/>
            </a:xfrm>
            <a:prstGeom prst="rect">
              <a:avLst/>
            </a:prstGeom>
          </p:spPr>
          <p:txBody>
            <a:bodyPr anchor="ctr" rtlCol="false" tIns="50800" lIns="50800" bIns="50800" rIns="50800"/>
            <a:lstStyle/>
            <a:p>
              <a:pPr algn="ctr">
                <a:lnSpc>
                  <a:spcPts val="4168"/>
                </a:lnSpc>
              </a:pPr>
            </a:p>
          </p:txBody>
        </p:sp>
      </p:grpSp>
      <p:sp>
        <p:nvSpPr>
          <p:cNvPr name="Freeform 7" id="7"/>
          <p:cNvSpPr/>
          <p:nvPr/>
        </p:nvSpPr>
        <p:spPr>
          <a:xfrm flipH="false" flipV="false" rot="0">
            <a:off x="9437223" y="5143500"/>
            <a:ext cx="9022476" cy="3569057"/>
          </a:xfrm>
          <a:custGeom>
            <a:avLst/>
            <a:gdLst/>
            <a:ahLst/>
            <a:cxnLst/>
            <a:rect r="r" b="b" t="t" l="l"/>
            <a:pathLst>
              <a:path h="3569057" w="9022476">
                <a:moveTo>
                  <a:pt x="0" y="0"/>
                </a:moveTo>
                <a:lnTo>
                  <a:pt x="9022476" y="0"/>
                </a:lnTo>
                <a:lnTo>
                  <a:pt x="9022476" y="3569057"/>
                </a:lnTo>
                <a:lnTo>
                  <a:pt x="0" y="3569057"/>
                </a:lnTo>
                <a:lnTo>
                  <a:pt x="0" y="0"/>
                </a:lnTo>
                <a:close/>
              </a:path>
            </a:pathLst>
          </a:custGeom>
          <a:blipFill>
            <a:blip r:embed="rId5"/>
            <a:stretch>
              <a:fillRect l="0" t="0" r="0" b="0"/>
            </a:stretch>
          </a:blipFill>
        </p:spPr>
      </p:sp>
      <p:sp>
        <p:nvSpPr>
          <p:cNvPr name="Freeform 8" id="8"/>
          <p:cNvSpPr/>
          <p:nvPr/>
        </p:nvSpPr>
        <p:spPr>
          <a:xfrm flipH="false" flipV="false" rot="0">
            <a:off x="9437223" y="5327135"/>
            <a:ext cx="8850777" cy="3385422"/>
          </a:xfrm>
          <a:custGeom>
            <a:avLst/>
            <a:gdLst/>
            <a:ahLst/>
            <a:cxnLst/>
            <a:rect r="r" b="b" t="t" l="l"/>
            <a:pathLst>
              <a:path h="3385422" w="8850777">
                <a:moveTo>
                  <a:pt x="0" y="0"/>
                </a:moveTo>
                <a:lnTo>
                  <a:pt x="8850777" y="0"/>
                </a:lnTo>
                <a:lnTo>
                  <a:pt x="8850777" y="3385422"/>
                </a:lnTo>
                <a:lnTo>
                  <a:pt x="0" y="3385422"/>
                </a:lnTo>
                <a:lnTo>
                  <a:pt x="0" y="0"/>
                </a:lnTo>
                <a:close/>
              </a:path>
            </a:pathLst>
          </a:custGeom>
          <a:blipFill>
            <a:blip r:embed="rId6"/>
            <a:stretch>
              <a:fillRect l="0" t="0" r="0" b="0"/>
            </a:stretch>
          </a:blipFill>
        </p:spPr>
      </p:sp>
      <p:sp>
        <p:nvSpPr>
          <p:cNvPr name="TextBox 9" id="9"/>
          <p:cNvSpPr txBox="true"/>
          <p:nvPr/>
        </p:nvSpPr>
        <p:spPr>
          <a:xfrm rot="0">
            <a:off x="1028700" y="1076325"/>
            <a:ext cx="14870432" cy="1029681"/>
          </a:xfrm>
          <a:prstGeom prst="rect">
            <a:avLst/>
          </a:prstGeom>
        </p:spPr>
        <p:txBody>
          <a:bodyPr anchor="t" rtlCol="false" tIns="0" lIns="0" bIns="0" rIns="0">
            <a:spAutoFit/>
          </a:bodyPr>
          <a:lstStyle/>
          <a:p>
            <a:pPr algn="l">
              <a:lnSpc>
                <a:spcPts val="8140"/>
              </a:lnSpc>
            </a:pPr>
            <a:r>
              <a:rPr lang="en-US" sz="6727" b="true">
                <a:solidFill>
                  <a:srgbClr val="FFFFFF"/>
                </a:solidFill>
                <a:latin typeface="Montserrat Bold"/>
                <a:ea typeface="Montserrat Bold"/>
                <a:cs typeface="Montserrat Bold"/>
                <a:sym typeface="Montserrat Bold"/>
              </a:rPr>
              <a:t>Basic Indicators: OPEX Meaning</a:t>
            </a:r>
          </a:p>
        </p:txBody>
      </p:sp>
      <p:sp>
        <p:nvSpPr>
          <p:cNvPr name="TextBox 10" id="10"/>
          <p:cNvSpPr txBox="true"/>
          <p:nvPr/>
        </p:nvSpPr>
        <p:spPr>
          <a:xfrm rot="0">
            <a:off x="460490" y="5468745"/>
            <a:ext cx="8683510" cy="2857501"/>
          </a:xfrm>
          <a:prstGeom prst="rect">
            <a:avLst/>
          </a:prstGeom>
        </p:spPr>
        <p:txBody>
          <a:bodyPr anchor="t" rtlCol="false" tIns="0" lIns="0" bIns="0" rIns="0">
            <a:spAutoFit/>
          </a:bodyPr>
          <a:lstStyle/>
          <a:p>
            <a:pPr algn="just">
              <a:lnSpc>
                <a:spcPts val="4589"/>
              </a:lnSpc>
            </a:pPr>
            <a:r>
              <a:rPr lang="en-US" sz="2699" b="true">
                <a:solidFill>
                  <a:srgbClr val="000000"/>
                </a:solidFill>
                <a:latin typeface="Montserrat Bold"/>
                <a:ea typeface="Montserrat Bold"/>
                <a:cs typeface="Montserrat Bold"/>
                <a:sym typeface="Montserrat Bold"/>
              </a:rPr>
              <a:t>OPEX (or Operation Expense) </a:t>
            </a:r>
            <a:r>
              <a:rPr lang="en-US" sz="2699">
                <a:solidFill>
                  <a:srgbClr val="000000"/>
                </a:solidFill>
                <a:latin typeface="Montserrat"/>
                <a:ea typeface="Montserrat"/>
                <a:cs typeface="Montserrat"/>
                <a:sym typeface="Montserrat"/>
              </a:rPr>
              <a:t>is the </a:t>
            </a:r>
            <a:r>
              <a:rPr lang="en-US" sz="2699" b="true">
                <a:solidFill>
                  <a:srgbClr val="000000"/>
                </a:solidFill>
                <a:latin typeface="Montserrat Bold"/>
                <a:ea typeface="Montserrat Bold"/>
                <a:cs typeface="Montserrat Bold"/>
                <a:sym typeface="Montserrat Bold"/>
              </a:rPr>
              <a:t>cost incurred during regular business activities. </a:t>
            </a:r>
            <a:r>
              <a:rPr lang="en-US" sz="2699">
                <a:solidFill>
                  <a:srgbClr val="000000"/>
                </a:solidFill>
                <a:latin typeface="Montserrat"/>
                <a:ea typeface="Montserrat"/>
                <a:cs typeface="Montserrat"/>
                <a:sym typeface="Montserrat"/>
              </a:rPr>
              <a:t>In other words, it is the money the banks spends on daily business operations from rent, utilities to salaries of the employees.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471003"/>
            <a:ext cx="25816251" cy="6092635"/>
          </a:xfrm>
          <a:custGeom>
            <a:avLst/>
            <a:gdLst/>
            <a:ahLst/>
            <a:cxnLst/>
            <a:rect r="r" b="b" t="t" l="l"/>
            <a:pathLst>
              <a:path h="6092635" w="25816251">
                <a:moveTo>
                  <a:pt x="0" y="6092635"/>
                </a:moveTo>
                <a:lnTo>
                  <a:pt x="25816251" y="6092635"/>
                </a:lnTo>
                <a:lnTo>
                  <a:pt x="25816251" y="0"/>
                </a:lnTo>
                <a:lnTo>
                  <a:pt x="0" y="0"/>
                </a:lnTo>
                <a:lnTo>
                  <a:pt x="0" y="60926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1020" y="-471003"/>
            <a:ext cx="1494080" cy="1499703"/>
          </a:xfrm>
          <a:custGeom>
            <a:avLst/>
            <a:gdLst/>
            <a:ahLst/>
            <a:cxnLst/>
            <a:rect r="r" b="b" t="t" l="l"/>
            <a:pathLst>
              <a:path h="1499703" w="1494080">
                <a:moveTo>
                  <a:pt x="0" y="0"/>
                </a:moveTo>
                <a:lnTo>
                  <a:pt x="1494080" y="0"/>
                </a:lnTo>
                <a:lnTo>
                  <a:pt x="1494080" y="1499703"/>
                </a:lnTo>
                <a:lnTo>
                  <a:pt x="0" y="1499703"/>
                </a:lnTo>
                <a:lnTo>
                  <a:pt x="0" y="0"/>
                </a:lnTo>
                <a:close/>
              </a:path>
            </a:pathLst>
          </a:custGeom>
          <a:blipFill>
            <a:blip r:embed="rId4">
              <a:alphaModFix amt="15000"/>
            </a:blip>
            <a:stretch>
              <a:fillRect l="0" t="0" r="0" b="0"/>
            </a:stretch>
          </a:blipFill>
        </p:spPr>
      </p:sp>
      <p:grpSp>
        <p:nvGrpSpPr>
          <p:cNvPr name="Group 4" id="4"/>
          <p:cNvGrpSpPr/>
          <p:nvPr/>
        </p:nvGrpSpPr>
        <p:grpSpPr>
          <a:xfrm rot="0">
            <a:off x="16573355" y="-324305"/>
            <a:ext cx="1138906" cy="113890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38100"/>
              <a:ext cx="660400" cy="774700"/>
            </a:xfrm>
            <a:prstGeom prst="rect">
              <a:avLst/>
            </a:prstGeom>
          </p:spPr>
          <p:txBody>
            <a:bodyPr anchor="ctr" rtlCol="false" tIns="50800" lIns="50800" bIns="50800" rIns="50800"/>
            <a:lstStyle/>
            <a:p>
              <a:pPr algn="ctr">
                <a:lnSpc>
                  <a:spcPts val="4168"/>
                </a:lnSpc>
              </a:pPr>
            </a:p>
          </p:txBody>
        </p:sp>
      </p:grpSp>
      <p:sp>
        <p:nvSpPr>
          <p:cNvPr name="Freeform 7" id="7"/>
          <p:cNvSpPr/>
          <p:nvPr/>
        </p:nvSpPr>
        <p:spPr>
          <a:xfrm flipH="false" flipV="false" rot="0">
            <a:off x="9437223" y="5143500"/>
            <a:ext cx="9022476" cy="3569057"/>
          </a:xfrm>
          <a:custGeom>
            <a:avLst/>
            <a:gdLst/>
            <a:ahLst/>
            <a:cxnLst/>
            <a:rect r="r" b="b" t="t" l="l"/>
            <a:pathLst>
              <a:path h="3569057" w="9022476">
                <a:moveTo>
                  <a:pt x="0" y="0"/>
                </a:moveTo>
                <a:lnTo>
                  <a:pt x="9022476" y="0"/>
                </a:lnTo>
                <a:lnTo>
                  <a:pt x="9022476" y="3569057"/>
                </a:lnTo>
                <a:lnTo>
                  <a:pt x="0" y="3569057"/>
                </a:lnTo>
                <a:lnTo>
                  <a:pt x="0" y="0"/>
                </a:lnTo>
                <a:close/>
              </a:path>
            </a:pathLst>
          </a:custGeom>
          <a:blipFill>
            <a:blip r:embed="rId5"/>
            <a:stretch>
              <a:fillRect l="0" t="0" r="0" b="0"/>
            </a:stretch>
          </a:blipFill>
        </p:spPr>
      </p:sp>
      <p:sp>
        <p:nvSpPr>
          <p:cNvPr name="Freeform 8" id="8"/>
          <p:cNvSpPr/>
          <p:nvPr/>
        </p:nvSpPr>
        <p:spPr>
          <a:xfrm flipH="false" flipV="false" rot="0">
            <a:off x="9437223" y="5327135"/>
            <a:ext cx="8850777" cy="3385422"/>
          </a:xfrm>
          <a:custGeom>
            <a:avLst/>
            <a:gdLst/>
            <a:ahLst/>
            <a:cxnLst/>
            <a:rect r="r" b="b" t="t" l="l"/>
            <a:pathLst>
              <a:path h="3385422" w="8850777">
                <a:moveTo>
                  <a:pt x="0" y="0"/>
                </a:moveTo>
                <a:lnTo>
                  <a:pt x="8850777" y="0"/>
                </a:lnTo>
                <a:lnTo>
                  <a:pt x="8850777" y="3385422"/>
                </a:lnTo>
                <a:lnTo>
                  <a:pt x="0" y="3385422"/>
                </a:lnTo>
                <a:lnTo>
                  <a:pt x="0" y="0"/>
                </a:lnTo>
                <a:close/>
              </a:path>
            </a:pathLst>
          </a:custGeom>
          <a:blipFill>
            <a:blip r:embed="rId6"/>
            <a:stretch>
              <a:fillRect l="0" t="0" r="0" b="0"/>
            </a:stretch>
          </a:blipFill>
        </p:spPr>
      </p:sp>
      <p:sp>
        <p:nvSpPr>
          <p:cNvPr name="Freeform 9" id="9"/>
          <p:cNvSpPr/>
          <p:nvPr/>
        </p:nvSpPr>
        <p:spPr>
          <a:xfrm flipH="false" flipV="false" rot="0">
            <a:off x="9566614" y="5327135"/>
            <a:ext cx="8721386" cy="3385422"/>
          </a:xfrm>
          <a:custGeom>
            <a:avLst/>
            <a:gdLst/>
            <a:ahLst/>
            <a:cxnLst/>
            <a:rect r="r" b="b" t="t" l="l"/>
            <a:pathLst>
              <a:path h="3385422" w="8721386">
                <a:moveTo>
                  <a:pt x="0" y="0"/>
                </a:moveTo>
                <a:lnTo>
                  <a:pt x="8721386" y="0"/>
                </a:lnTo>
                <a:lnTo>
                  <a:pt x="8721386" y="3385422"/>
                </a:lnTo>
                <a:lnTo>
                  <a:pt x="0" y="3385422"/>
                </a:lnTo>
                <a:lnTo>
                  <a:pt x="0" y="0"/>
                </a:lnTo>
                <a:close/>
              </a:path>
            </a:pathLst>
          </a:custGeom>
          <a:blipFill>
            <a:blip r:embed="rId7"/>
            <a:stretch>
              <a:fillRect l="0" t="0" r="0" b="0"/>
            </a:stretch>
          </a:blipFill>
        </p:spPr>
      </p:sp>
      <p:sp>
        <p:nvSpPr>
          <p:cNvPr name="TextBox 10" id="10"/>
          <p:cNvSpPr txBox="true"/>
          <p:nvPr/>
        </p:nvSpPr>
        <p:spPr>
          <a:xfrm rot="0">
            <a:off x="1028700" y="1076325"/>
            <a:ext cx="14870432" cy="1029681"/>
          </a:xfrm>
          <a:prstGeom prst="rect">
            <a:avLst/>
          </a:prstGeom>
        </p:spPr>
        <p:txBody>
          <a:bodyPr anchor="t" rtlCol="false" tIns="0" lIns="0" bIns="0" rIns="0">
            <a:spAutoFit/>
          </a:bodyPr>
          <a:lstStyle/>
          <a:p>
            <a:pPr algn="l">
              <a:lnSpc>
                <a:spcPts val="8140"/>
              </a:lnSpc>
            </a:pPr>
            <a:r>
              <a:rPr lang="en-US" sz="6727" b="true">
                <a:solidFill>
                  <a:srgbClr val="FFFFFF"/>
                </a:solidFill>
                <a:latin typeface="Montserrat Bold"/>
                <a:ea typeface="Montserrat Bold"/>
                <a:cs typeface="Montserrat Bold"/>
                <a:sym typeface="Montserrat Bold"/>
              </a:rPr>
              <a:t>Basic Indicators: CIR Meaning</a:t>
            </a:r>
          </a:p>
        </p:txBody>
      </p:sp>
      <p:sp>
        <p:nvSpPr>
          <p:cNvPr name="TextBox 11" id="11"/>
          <p:cNvSpPr txBox="true"/>
          <p:nvPr/>
        </p:nvSpPr>
        <p:spPr>
          <a:xfrm rot="0">
            <a:off x="460490" y="5468745"/>
            <a:ext cx="8683510" cy="1695451"/>
          </a:xfrm>
          <a:prstGeom prst="rect">
            <a:avLst/>
          </a:prstGeom>
        </p:spPr>
        <p:txBody>
          <a:bodyPr anchor="t" rtlCol="false" tIns="0" lIns="0" bIns="0" rIns="0">
            <a:spAutoFit/>
          </a:bodyPr>
          <a:lstStyle/>
          <a:p>
            <a:pPr algn="just">
              <a:lnSpc>
                <a:spcPts val="4589"/>
              </a:lnSpc>
            </a:pPr>
            <a:r>
              <a:rPr lang="en-US" sz="2699" b="true">
                <a:solidFill>
                  <a:srgbClr val="000000"/>
                </a:solidFill>
                <a:latin typeface="Montserrat Bold"/>
                <a:ea typeface="Montserrat Bold"/>
                <a:cs typeface="Montserrat Bold"/>
                <a:sym typeface="Montserrat Bold"/>
              </a:rPr>
              <a:t>CIR (Cost-to-Income) </a:t>
            </a:r>
            <a:r>
              <a:rPr lang="en-US" sz="2699">
                <a:solidFill>
                  <a:srgbClr val="000000"/>
                </a:solidFill>
                <a:latin typeface="Montserrat"/>
                <a:ea typeface="Montserrat"/>
                <a:cs typeface="Montserrat"/>
                <a:sym typeface="Montserrat"/>
              </a:rPr>
              <a:t>measures a bank’s </a:t>
            </a:r>
            <a:r>
              <a:rPr lang="en-US" sz="2699" b="true">
                <a:solidFill>
                  <a:srgbClr val="000000"/>
                </a:solidFill>
                <a:latin typeface="Montserrat Bold"/>
                <a:ea typeface="Montserrat Bold"/>
                <a:cs typeface="Montserrat Bold"/>
                <a:sym typeface="Montserrat Bold"/>
              </a:rPr>
              <a:t>operating expenses against its income</a:t>
            </a:r>
            <a:r>
              <a:rPr lang="en-US" sz="2699">
                <a:solidFill>
                  <a:srgbClr val="000000"/>
                </a:solidFill>
                <a:latin typeface="Montserrat"/>
                <a:ea typeface="Montserrat"/>
                <a:cs typeface="Montserrat"/>
                <a:sym typeface="Montserrat"/>
              </a:rPr>
              <a:t>.  It is ratio calculated by dividing the bank’s OPEX by its TOI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471003"/>
            <a:ext cx="25816251" cy="6092635"/>
          </a:xfrm>
          <a:custGeom>
            <a:avLst/>
            <a:gdLst/>
            <a:ahLst/>
            <a:cxnLst/>
            <a:rect r="r" b="b" t="t" l="l"/>
            <a:pathLst>
              <a:path h="6092635" w="25816251">
                <a:moveTo>
                  <a:pt x="0" y="6092635"/>
                </a:moveTo>
                <a:lnTo>
                  <a:pt x="25816251" y="6092635"/>
                </a:lnTo>
                <a:lnTo>
                  <a:pt x="25816251" y="0"/>
                </a:lnTo>
                <a:lnTo>
                  <a:pt x="0" y="0"/>
                </a:lnTo>
                <a:lnTo>
                  <a:pt x="0" y="60926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1020" y="-471003"/>
            <a:ext cx="1494080" cy="1499703"/>
          </a:xfrm>
          <a:custGeom>
            <a:avLst/>
            <a:gdLst/>
            <a:ahLst/>
            <a:cxnLst/>
            <a:rect r="r" b="b" t="t" l="l"/>
            <a:pathLst>
              <a:path h="1499703" w="1494080">
                <a:moveTo>
                  <a:pt x="0" y="0"/>
                </a:moveTo>
                <a:lnTo>
                  <a:pt x="1494080" y="0"/>
                </a:lnTo>
                <a:lnTo>
                  <a:pt x="1494080" y="1499703"/>
                </a:lnTo>
                <a:lnTo>
                  <a:pt x="0" y="1499703"/>
                </a:lnTo>
                <a:lnTo>
                  <a:pt x="0" y="0"/>
                </a:lnTo>
                <a:close/>
              </a:path>
            </a:pathLst>
          </a:custGeom>
          <a:blipFill>
            <a:blip r:embed="rId4">
              <a:alphaModFix amt="15000"/>
            </a:blip>
            <a:stretch>
              <a:fillRect l="0" t="0" r="0" b="0"/>
            </a:stretch>
          </a:blipFill>
        </p:spPr>
      </p:sp>
      <p:grpSp>
        <p:nvGrpSpPr>
          <p:cNvPr name="Group 4" id="4"/>
          <p:cNvGrpSpPr/>
          <p:nvPr/>
        </p:nvGrpSpPr>
        <p:grpSpPr>
          <a:xfrm rot="0">
            <a:off x="16573355" y="-324305"/>
            <a:ext cx="1138906" cy="113890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38100"/>
              <a:ext cx="660400" cy="774700"/>
            </a:xfrm>
            <a:prstGeom prst="rect">
              <a:avLst/>
            </a:prstGeom>
          </p:spPr>
          <p:txBody>
            <a:bodyPr anchor="ctr" rtlCol="false" tIns="50800" lIns="50800" bIns="50800" rIns="50800"/>
            <a:lstStyle/>
            <a:p>
              <a:pPr algn="ctr">
                <a:lnSpc>
                  <a:spcPts val="4168"/>
                </a:lnSpc>
              </a:pPr>
            </a:p>
          </p:txBody>
        </p:sp>
      </p:grpSp>
      <p:sp>
        <p:nvSpPr>
          <p:cNvPr name="Freeform 7" id="7"/>
          <p:cNvSpPr/>
          <p:nvPr/>
        </p:nvSpPr>
        <p:spPr>
          <a:xfrm flipH="false" flipV="false" rot="0">
            <a:off x="9437223" y="5143500"/>
            <a:ext cx="9022476" cy="3569057"/>
          </a:xfrm>
          <a:custGeom>
            <a:avLst/>
            <a:gdLst/>
            <a:ahLst/>
            <a:cxnLst/>
            <a:rect r="r" b="b" t="t" l="l"/>
            <a:pathLst>
              <a:path h="3569057" w="9022476">
                <a:moveTo>
                  <a:pt x="0" y="0"/>
                </a:moveTo>
                <a:lnTo>
                  <a:pt x="9022476" y="0"/>
                </a:lnTo>
                <a:lnTo>
                  <a:pt x="9022476" y="3569057"/>
                </a:lnTo>
                <a:lnTo>
                  <a:pt x="0" y="3569057"/>
                </a:lnTo>
                <a:lnTo>
                  <a:pt x="0" y="0"/>
                </a:lnTo>
                <a:close/>
              </a:path>
            </a:pathLst>
          </a:custGeom>
          <a:blipFill>
            <a:blip r:embed="rId5"/>
            <a:stretch>
              <a:fillRect l="0" t="0" r="0" b="0"/>
            </a:stretch>
          </a:blipFill>
        </p:spPr>
      </p:sp>
      <p:sp>
        <p:nvSpPr>
          <p:cNvPr name="Freeform 8" id="8"/>
          <p:cNvSpPr/>
          <p:nvPr/>
        </p:nvSpPr>
        <p:spPr>
          <a:xfrm flipH="false" flipV="false" rot="0">
            <a:off x="9437223" y="5327135"/>
            <a:ext cx="8850777" cy="3385422"/>
          </a:xfrm>
          <a:custGeom>
            <a:avLst/>
            <a:gdLst/>
            <a:ahLst/>
            <a:cxnLst/>
            <a:rect r="r" b="b" t="t" l="l"/>
            <a:pathLst>
              <a:path h="3385422" w="8850777">
                <a:moveTo>
                  <a:pt x="0" y="0"/>
                </a:moveTo>
                <a:lnTo>
                  <a:pt x="8850777" y="0"/>
                </a:lnTo>
                <a:lnTo>
                  <a:pt x="8850777" y="3385422"/>
                </a:lnTo>
                <a:lnTo>
                  <a:pt x="0" y="3385422"/>
                </a:lnTo>
                <a:lnTo>
                  <a:pt x="0" y="0"/>
                </a:lnTo>
                <a:close/>
              </a:path>
            </a:pathLst>
          </a:custGeom>
          <a:blipFill>
            <a:blip r:embed="rId6"/>
            <a:stretch>
              <a:fillRect l="0" t="0" r="0" b="0"/>
            </a:stretch>
          </a:blipFill>
        </p:spPr>
      </p:sp>
      <p:sp>
        <p:nvSpPr>
          <p:cNvPr name="Freeform 9" id="9"/>
          <p:cNvSpPr/>
          <p:nvPr/>
        </p:nvSpPr>
        <p:spPr>
          <a:xfrm flipH="false" flipV="false" rot="0">
            <a:off x="9566614" y="5327135"/>
            <a:ext cx="8721386" cy="3385422"/>
          </a:xfrm>
          <a:custGeom>
            <a:avLst/>
            <a:gdLst/>
            <a:ahLst/>
            <a:cxnLst/>
            <a:rect r="r" b="b" t="t" l="l"/>
            <a:pathLst>
              <a:path h="3385422" w="8721386">
                <a:moveTo>
                  <a:pt x="0" y="0"/>
                </a:moveTo>
                <a:lnTo>
                  <a:pt x="8721386" y="0"/>
                </a:lnTo>
                <a:lnTo>
                  <a:pt x="8721386" y="3385422"/>
                </a:lnTo>
                <a:lnTo>
                  <a:pt x="0" y="3385422"/>
                </a:lnTo>
                <a:lnTo>
                  <a:pt x="0" y="0"/>
                </a:lnTo>
                <a:close/>
              </a:path>
            </a:pathLst>
          </a:custGeom>
          <a:blipFill>
            <a:blip r:embed="rId7"/>
            <a:stretch>
              <a:fillRect l="0" t="0" r="0" b="0"/>
            </a:stretch>
          </a:blipFill>
        </p:spPr>
      </p:sp>
      <p:sp>
        <p:nvSpPr>
          <p:cNvPr name="Freeform 10" id="10"/>
          <p:cNvSpPr/>
          <p:nvPr/>
        </p:nvSpPr>
        <p:spPr>
          <a:xfrm flipH="false" flipV="false" rot="0">
            <a:off x="9767261" y="5248163"/>
            <a:ext cx="8137839" cy="3464394"/>
          </a:xfrm>
          <a:custGeom>
            <a:avLst/>
            <a:gdLst/>
            <a:ahLst/>
            <a:cxnLst/>
            <a:rect r="r" b="b" t="t" l="l"/>
            <a:pathLst>
              <a:path h="3464394" w="8137839">
                <a:moveTo>
                  <a:pt x="0" y="0"/>
                </a:moveTo>
                <a:lnTo>
                  <a:pt x="8137839" y="0"/>
                </a:lnTo>
                <a:lnTo>
                  <a:pt x="8137839" y="3464394"/>
                </a:lnTo>
                <a:lnTo>
                  <a:pt x="0" y="3464394"/>
                </a:lnTo>
                <a:lnTo>
                  <a:pt x="0" y="0"/>
                </a:lnTo>
                <a:close/>
              </a:path>
            </a:pathLst>
          </a:custGeom>
          <a:blipFill>
            <a:blip r:embed="rId8"/>
            <a:stretch>
              <a:fillRect l="0" t="0" r="0" b="0"/>
            </a:stretch>
          </a:blipFill>
        </p:spPr>
      </p:sp>
      <p:sp>
        <p:nvSpPr>
          <p:cNvPr name="TextBox 11" id="11"/>
          <p:cNvSpPr txBox="true"/>
          <p:nvPr/>
        </p:nvSpPr>
        <p:spPr>
          <a:xfrm rot="0">
            <a:off x="1028700" y="1076325"/>
            <a:ext cx="14870432" cy="1029681"/>
          </a:xfrm>
          <a:prstGeom prst="rect">
            <a:avLst/>
          </a:prstGeom>
        </p:spPr>
        <p:txBody>
          <a:bodyPr anchor="t" rtlCol="false" tIns="0" lIns="0" bIns="0" rIns="0">
            <a:spAutoFit/>
          </a:bodyPr>
          <a:lstStyle/>
          <a:p>
            <a:pPr algn="l">
              <a:lnSpc>
                <a:spcPts val="8140"/>
              </a:lnSpc>
            </a:pPr>
            <a:r>
              <a:rPr lang="en-US" sz="6727" b="true">
                <a:solidFill>
                  <a:srgbClr val="FFFFFF"/>
                </a:solidFill>
                <a:latin typeface="Montserrat Bold"/>
                <a:ea typeface="Montserrat Bold"/>
                <a:cs typeface="Montserrat Bold"/>
                <a:sym typeface="Montserrat Bold"/>
              </a:rPr>
              <a:t>Basic Indicators: ROE Meaning</a:t>
            </a:r>
          </a:p>
        </p:txBody>
      </p:sp>
      <p:sp>
        <p:nvSpPr>
          <p:cNvPr name="TextBox 12" id="12"/>
          <p:cNvSpPr txBox="true"/>
          <p:nvPr/>
        </p:nvSpPr>
        <p:spPr>
          <a:xfrm rot="0">
            <a:off x="460490" y="5468745"/>
            <a:ext cx="8683510" cy="2857501"/>
          </a:xfrm>
          <a:prstGeom prst="rect">
            <a:avLst/>
          </a:prstGeom>
        </p:spPr>
        <p:txBody>
          <a:bodyPr anchor="t" rtlCol="false" tIns="0" lIns="0" bIns="0" rIns="0">
            <a:spAutoFit/>
          </a:bodyPr>
          <a:lstStyle/>
          <a:p>
            <a:pPr algn="just">
              <a:lnSpc>
                <a:spcPts val="4589"/>
              </a:lnSpc>
            </a:pPr>
            <a:r>
              <a:rPr lang="en-US" sz="2699" b="true">
                <a:solidFill>
                  <a:srgbClr val="000000"/>
                </a:solidFill>
                <a:latin typeface="Montserrat Bold"/>
                <a:ea typeface="Montserrat Bold"/>
                <a:cs typeface="Montserrat Bold"/>
                <a:sym typeface="Montserrat Bold"/>
              </a:rPr>
              <a:t>ROE (Return-on-Equity) </a:t>
            </a:r>
            <a:r>
              <a:rPr lang="en-US" sz="2699">
                <a:solidFill>
                  <a:srgbClr val="000000"/>
                </a:solidFill>
                <a:latin typeface="Montserrat"/>
                <a:ea typeface="Montserrat"/>
                <a:cs typeface="Montserrat"/>
                <a:sym typeface="Montserrat"/>
              </a:rPr>
              <a:t>is the </a:t>
            </a:r>
            <a:r>
              <a:rPr lang="en-US" sz="2699" b="true">
                <a:solidFill>
                  <a:srgbClr val="000000"/>
                </a:solidFill>
                <a:latin typeface="Montserrat Bold"/>
                <a:ea typeface="Montserrat Bold"/>
                <a:cs typeface="Montserrat Bold"/>
                <a:sym typeface="Montserrat Bold"/>
              </a:rPr>
              <a:t>return on shareholders’s investment</a:t>
            </a:r>
            <a:r>
              <a:rPr lang="en-US" sz="2699">
                <a:solidFill>
                  <a:srgbClr val="000000"/>
                </a:solidFill>
                <a:latin typeface="Montserrat"/>
                <a:ea typeface="Montserrat"/>
                <a:cs typeface="Montserrat"/>
                <a:sym typeface="Montserrat"/>
              </a:rPr>
              <a:t>. It is calculated through Net Profit after Tax divided by Total Equity.  This is how efficient the investment is used.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471003"/>
            <a:ext cx="25816251" cy="6092635"/>
          </a:xfrm>
          <a:custGeom>
            <a:avLst/>
            <a:gdLst/>
            <a:ahLst/>
            <a:cxnLst/>
            <a:rect r="r" b="b" t="t" l="l"/>
            <a:pathLst>
              <a:path h="6092635" w="25816251">
                <a:moveTo>
                  <a:pt x="0" y="6092635"/>
                </a:moveTo>
                <a:lnTo>
                  <a:pt x="25816251" y="6092635"/>
                </a:lnTo>
                <a:lnTo>
                  <a:pt x="25816251" y="0"/>
                </a:lnTo>
                <a:lnTo>
                  <a:pt x="0" y="0"/>
                </a:lnTo>
                <a:lnTo>
                  <a:pt x="0" y="60926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1020" y="-471003"/>
            <a:ext cx="1494080" cy="1499703"/>
          </a:xfrm>
          <a:custGeom>
            <a:avLst/>
            <a:gdLst/>
            <a:ahLst/>
            <a:cxnLst/>
            <a:rect r="r" b="b" t="t" l="l"/>
            <a:pathLst>
              <a:path h="1499703" w="1494080">
                <a:moveTo>
                  <a:pt x="0" y="0"/>
                </a:moveTo>
                <a:lnTo>
                  <a:pt x="1494080" y="0"/>
                </a:lnTo>
                <a:lnTo>
                  <a:pt x="1494080" y="1499703"/>
                </a:lnTo>
                <a:lnTo>
                  <a:pt x="0" y="1499703"/>
                </a:lnTo>
                <a:lnTo>
                  <a:pt x="0" y="0"/>
                </a:lnTo>
                <a:close/>
              </a:path>
            </a:pathLst>
          </a:custGeom>
          <a:blipFill>
            <a:blip r:embed="rId4">
              <a:alphaModFix amt="15000"/>
            </a:blip>
            <a:stretch>
              <a:fillRect l="0" t="0" r="0" b="0"/>
            </a:stretch>
          </a:blipFill>
        </p:spPr>
      </p:sp>
      <p:grpSp>
        <p:nvGrpSpPr>
          <p:cNvPr name="Group 4" id="4"/>
          <p:cNvGrpSpPr/>
          <p:nvPr/>
        </p:nvGrpSpPr>
        <p:grpSpPr>
          <a:xfrm rot="0">
            <a:off x="16573355" y="-324305"/>
            <a:ext cx="1138906" cy="113890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38100"/>
              <a:ext cx="660400" cy="774700"/>
            </a:xfrm>
            <a:prstGeom prst="rect">
              <a:avLst/>
            </a:prstGeom>
          </p:spPr>
          <p:txBody>
            <a:bodyPr anchor="ctr" rtlCol="false" tIns="50800" lIns="50800" bIns="50800" rIns="50800"/>
            <a:lstStyle/>
            <a:p>
              <a:pPr algn="ctr">
                <a:lnSpc>
                  <a:spcPts val="4168"/>
                </a:lnSpc>
              </a:pPr>
            </a:p>
          </p:txBody>
        </p:sp>
      </p:grpSp>
      <p:sp>
        <p:nvSpPr>
          <p:cNvPr name="Freeform 7" id="7"/>
          <p:cNvSpPr/>
          <p:nvPr/>
        </p:nvSpPr>
        <p:spPr>
          <a:xfrm flipH="false" flipV="false" rot="0">
            <a:off x="9437223" y="5143500"/>
            <a:ext cx="9022476" cy="3569057"/>
          </a:xfrm>
          <a:custGeom>
            <a:avLst/>
            <a:gdLst/>
            <a:ahLst/>
            <a:cxnLst/>
            <a:rect r="r" b="b" t="t" l="l"/>
            <a:pathLst>
              <a:path h="3569057" w="9022476">
                <a:moveTo>
                  <a:pt x="0" y="0"/>
                </a:moveTo>
                <a:lnTo>
                  <a:pt x="9022476" y="0"/>
                </a:lnTo>
                <a:lnTo>
                  <a:pt x="9022476" y="3569057"/>
                </a:lnTo>
                <a:lnTo>
                  <a:pt x="0" y="3569057"/>
                </a:lnTo>
                <a:lnTo>
                  <a:pt x="0" y="0"/>
                </a:lnTo>
                <a:close/>
              </a:path>
            </a:pathLst>
          </a:custGeom>
          <a:blipFill>
            <a:blip r:embed="rId5"/>
            <a:stretch>
              <a:fillRect l="0" t="0" r="0" b="0"/>
            </a:stretch>
          </a:blipFill>
        </p:spPr>
      </p:sp>
      <p:sp>
        <p:nvSpPr>
          <p:cNvPr name="Freeform 8" id="8"/>
          <p:cNvSpPr/>
          <p:nvPr/>
        </p:nvSpPr>
        <p:spPr>
          <a:xfrm flipH="false" flipV="false" rot="0">
            <a:off x="9437223" y="5327135"/>
            <a:ext cx="8850777" cy="3385422"/>
          </a:xfrm>
          <a:custGeom>
            <a:avLst/>
            <a:gdLst/>
            <a:ahLst/>
            <a:cxnLst/>
            <a:rect r="r" b="b" t="t" l="l"/>
            <a:pathLst>
              <a:path h="3385422" w="8850777">
                <a:moveTo>
                  <a:pt x="0" y="0"/>
                </a:moveTo>
                <a:lnTo>
                  <a:pt x="8850777" y="0"/>
                </a:lnTo>
                <a:lnTo>
                  <a:pt x="8850777" y="3385422"/>
                </a:lnTo>
                <a:lnTo>
                  <a:pt x="0" y="3385422"/>
                </a:lnTo>
                <a:lnTo>
                  <a:pt x="0" y="0"/>
                </a:lnTo>
                <a:close/>
              </a:path>
            </a:pathLst>
          </a:custGeom>
          <a:blipFill>
            <a:blip r:embed="rId6"/>
            <a:stretch>
              <a:fillRect l="0" t="0" r="0" b="0"/>
            </a:stretch>
          </a:blipFill>
        </p:spPr>
      </p:sp>
      <p:sp>
        <p:nvSpPr>
          <p:cNvPr name="Freeform 9" id="9"/>
          <p:cNvSpPr/>
          <p:nvPr/>
        </p:nvSpPr>
        <p:spPr>
          <a:xfrm flipH="false" flipV="false" rot="0">
            <a:off x="9566614" y="5327135"/>
            <a:ext cx="8721386" cy="3385422"/>
          </a:xfrm>
          <a:custGeom>
            <a:avLst/>
            <a:gdLst/>
            <a:ahLst/>
            <a:cxnLst/>
            <a:rect r="r" b="b" t="t" l="l"/>
            <a:pathLst>
              <a:path h="3385422" w="8721386">
                <a:moveTo>
                  <a:pt x="0" y="0"/>
                </a:moveTo>
                <a:lnTo>
                  <a:pt x="8721386" y="0"/>
                </a:lnTo>
                <a:lnTo>
                  <a:pt x="8721386" y="3385422"/>
                </a:lnTo>
                <a:lnTo>
                  <a:pt x="0" y="3385422"/>
                </a:lnTo>
                <a:lnTo>
                  <a:pt x="0" y="0"/>
                </a:lnTo>
                <a:close/>
              </a:path>
            </a:pathLst>
          </a:custGeom>
          <a:blipFill>
            <a:blip r:embed="rId7"/>
            <a:stretch>
              <a:fillRect l="0" t="0" r="0" b="0"/>
            </a:stretch>
          </a:blipFill>
        </p:spPr>
      </p:sp>
      <p:sp>
        <p:nvSpPr>
          <p:cNvPr name="Freeform 10" id="10"/>
          <p:cNvSpPr/>
          <p:nvPr/>
        </p:nvSpPr>
        <p:spPr>
          <a:xfrm flipH="false" flipV="false" rot="0">
            <a:off x="9904309" y="5143500"/>
            <a:ext cx="8383691" cy="3569057"/>
          </a:xfrm>
          <a:custGeom>
            <a:avLst/>
            <a:gdLst/>
            <a:ahLst/>
            <a:cxnLst/>
            <a:rect r="r" b="b" t="t" l="l"/>
            <a:pathLst>
              <a:path h="3569057" w="8383691">
                <a:moveTo>
                  <a:pt x="0" y="0"/>
                </a:moveTo>
                <a:lnTo>
                  <a:pt x="8383691" y="0"/>
                </a:lnTo>
                <a:lnTo>
                  <a:pt x="8383691" y="3569057"/>
                </a:lnTo>
                <a:lnTo>
                  <a:pt x="0" y="3569057"/>
                </a:lnTo>
                <a:lnTo>
                  <a:pt x="0" y="0"/>
                </a:lnTo>
                <a:close/>
              </a:path>
            </a:pathLst>
          </a:custGeom>
          <a:blipFill>
            <a:blip r:embed="rId8"/>
            <a:stretch>
              <a:fillRect l="0" t="0" r="0" b="0"/>
            </a:stretch>
          </a:blipFill>
        </p:spPr>
      </p:sp>
      <p:sp>
        <p:nvSpPr>
          <p:cNvPr name="Freeform 11" id="11"/>
          <p:cNvSpPr/>
          <p:nvPr/>
        </p:nvSpPr>
        <p:spPr>
          <a:xfrm flipH="false" flipV="false" rot="0">
            <a:off x="9376461" y="5143500"/>
            <a:ext cx="9144000" cy="3520558"/>
          </a:xfrm>
          <a:custGeom>
            <a:avLst/>
            <a:gdLst/>
            <a:ahLst/>
            <a:cxnLst/>
            <a:rect r="r" b="b" t="t" l="l"/>
            <a:pathLst>
              <a:path h="3520558" w="9144000">
                <a:moveTo>
                  <a:pt x="0" y="0"/>
                </a:moveTo>
                <a:lnTo>
                  <a:pt x="9144000" y="0"/>
                </a:lnTo>
                <a:lnTo>
                  <a:pt x="9144000" y="3520558"/>
                </a:lnTo>
                <a:lnTo>
                  <a:pt x="0" y="3520558"/>
                </a:lnTo>
                <a:lnTo>
                  <a:pt x="0" y="0"/>
                </a:lnTo>
                <a:close/>
              </a:path>
            </a:pathLst>
          </a:custGeom>
          <a:blipFill>
            <a:blip r:embed="rId9"/>
            <a:stretch>
              <a:fillRect l="0" t="0" r="0" b="0"/>
            </a:stretch>
          </a:blipFill>
        </p:spPr>
      </p:sp>
      <p:sp>
        <p:nvSpPr>
          <p:cNvPr name="TextBox 12" id="12"/>
          <p:cNvSpPr txBox="true"/>
          <p:nvPr/>
        </p:nvSpPr>
        <p:spPr>
          <a:xfrm rot="0">
            <a:off x="1028700" y="1076325"/>
            <a:ext cx="14870432" cy="1029681"/>
          </a:xfrm>
          <a:prstGeom prst="rect">
            <a:avLst/>
          </a:prstGeom>
        </p:spPr>
        <p:txBody>
          <a:bodyPr anchor="t" rtlCol="false" tIns="0" lIns="0" bIns="0" rIns="0">
            <a:spAutoFit/>
          </a:bodyPr>
          <a:lstStyle/>
          <a:p>
            <a:pPr algn="l">
              <a:lnSpc>
                <a:spcPts val="8140"/>
              </a:lnSpc>
            </a:pPr>
            <a:r>
              <a:rPr lang="en-US" sz="6727" b="true">
                <a:solidFill>
                  <a:srgbClr val="FFFFFF"/>
                </a:solidFill>
                <a:latin typeface="Montserrat Bold"/>
                <a:ea typeface="Montserrat Bold"/>
                <a:cs typeface="Montserrat Bold"/>
                <a:sym typeface="Montserrat Bold"/>
              </a:rPr>
              <a:t>Basic Indicators: ROA Meaning</a:t>
            </a:r>
          </a:p>
        </p:txBody>
      </p:sp>
      <p:sp>
        <p:nvSpPr>
          <p:cNvPr name="TextBox 13" id="13"/>
          <p:cNvSpPr txBox="true"/>
          <p:nvPr/>
        </p:nvSpPr>
        <p:spPr>
          <a:xfrm rot="0">
            <a:off x="460490" y="5468745"/>
            <a:ext cx="8683510" cy="2857501"/>
          </a:xfrm>
          <a:prstGeom prst="rect">
            <a:avLst/>
          </a:prstGeom>
        </p:spPr>
        <p:txBody>
          <a:bodyPr anchor="t" rtlCol="false" tIns="0" lIns="0" bIns="0" rIns="0">
            <a:spAutoFit/>
          </a:bodyPr>
          <a:lstStyle/>
          <a:p>
            <a:pPr algn="just">
              <a:lnSpc>
                <a:spcPts val="4589"/>
              </a:lnSpc>
            </a:pPr>
            <a:r>
              <a:rPr lang="en-US" sz="2699" b="true">
                <a:solidFill>
                  <a:srgbClr val="000000"/>
                </a:solidFill>
                <a:latin typeface="Montserrat Bold"/>
                <a:ea typeface="Montserrat Bold"/>
                <a:cs typeface="Montserrat Bold"/>
                <a:sym typeface="Montserrat Bold"/>
              </a:rPr>
              <a:t>ROA (Return-on-Assets) </a:t>
            </a:r>
            <a:r>
              <a:rPr lang="en-US" sz="2699">
                <a:solidFill>
                  <a:srgbClr val="000000"/>
                </a:solidFill>
                <a:latin typeface="Montserrat"/>
                <a:ea typeface="Montserrat"/>
                <a:cs typeface="Montserrat"/>
                <a:sym typeface="Montserrat"/>
              </a:rPr>
              <a:t>is the</a:t>
            </a:r>
            <a:r>
              <a:rPr lang="en-US" sz="2699" b="true">
                <a:solidFill>
                  <a:srgbClr val="000000"/>
                </a:solidFill>
                <a:latin typeface="Montserrat Bold"/>
                <a:ea typeface="Montserrat Bold"/>
                <a:cs typeface="Montserrat Bold"/>
                <a:sym typeface="Montserrat Bold"/>
              </a:rPr>
              <a:t> return on the bank’s total assets. </a:t>
            </a:r>
            <a:r>
              <a:rPr lang="en-US" sz="2699">
                <a:solidFill>
                  <a:srgbClr val="000000"/>
                </a:solidFill>
                <a:latin typeface="Montserrat"/>
                <a:ea typeface="Montserrat"/>
                <a:cs typeface="Montserrat"/>
                <a:sym typeface="Montserrat"/>
              </a:rPr>
              <a:t>It is calculated through Net Profit after Tax divided by Total Assets instead showing how efficient the assets is in generating profit.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471003"/>
            <a:ext cx="25816251" cy="6092635"/>
          </a:xfrm>
          <a:custGeom>
            <a:avLst/>
            <a:gdLst/>
            <a:ahLst/>
            <a:cxnLst/>
            <a:rect r="r" b="b" t="t" l="l"/>
            <a:pathLst>
              <a:path h="6092635" w="25816251">
                <a:moveTo>
                  <a:pt x="0" y="6092635"/>
                </a:moveTo>
                <a:lnTo>
                  <a:pt x="25816251" y="6092635"/>
                </a:lnTo>
                <a:lnTo>
                  <a:pt x="25816251" y="0"/>
                </a:lnTo>
                <a:lnTo>
                  <a:pt x="0" y="0"/>
                </a:lnTo>
                <a:lnTo>
                  <a:pt x="0" y="60926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1020" y="-471003"/>
            <a:ext cx="1494080" cy="1499703"/>
          </a:xfrm>
          <a:custGeom>
            <a:avLst/>
            <a:gdLst/>
            <a:ahLst/>
            <a:cxnLst/>
            <a:rect r="r" b="b" t="t" l="l"/>
            <a:pathLst>
              <a:path h="1499703" w="1494080">
                <a:moveTo>
                  <a:pt x="0" y="0"/>
                </a:moveTo>
                <a:lnTo>
                  <a:pt x="1494080" y="0"/>
                </a:lnTo>
                <a:lnTo>
                  <a:pt x="1494080" y="1499703"/>
                </a:lnTo>
                <a:lnTo>
                  <a:pt x="0" y="1499703"/>
                </a:lnTo>
                <a:lnTo>
                  <a:pt x="0" y="0"/>
                </a:lnTo>
                <a:close/>
              </a:path>
            </a:pathLst>
          </a:custGeom>
          <a:blipFill>
            <a:blip r:embed="rId4">
              <a:alphaModFix amt="15000"/>
            </a:blip>
            <a:stretch>
              <a:fillRect l="0" t="0" r="0" b="0"/>
            </a:stretch>
          </a:blipFill>
        </p:spPr>
      </p:sp>
      <p:grpSp>
        <p:nvGrpSpPr>
          <p:cNvPr name="Group 4" id="4"/>
          <p:cNvGrpSpPr/>
          <p:nvPr/>
        </p:nvGrpSpPr>
        <p:grpSpPr>
          <a:xfrm rot="0">
            <a:off x="16573355" y="-324305"/>
            <a:ext cx="1138906" cy="113890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38100"/>
              <a:ext cx="660400" cy="774700"/>
            </a:xfrm>
            <a:prstGeom prst="rect">
              <a:avLst/>
            </a:prstGeom>
          </p:spPr>
          <p:txBody>
            <a:bodyPr anchor="ctr" rtlCol="false" tIns="50800" lIns="50800" bIns="50800" rIns="50800"/>
            <a:lstStyle/>
            <a:p>
              <a:pPr algn="ctr">
                <a:lnSpc>
                  <a:spcPts val="4168"/>
                </a:lnSpc>
              </a:pPr>
            </a:p>
          </p:txBody>
        </p:sp>
      </p:grpSp>
      <p:sp>
        <p:nvSpPr>
          <p:cNvPr name="Freeform 7" id="7"/>
          <p:cNvSpPr/>
          <p:nvPr/>
        </p:nvSpPr>
        <p:spPr>
          <a:xfrm flipH="false" flipV="false" rot="0">
            <a:off x="809121" y="5869504"/>
            <a:ext cx="7146695" cy="2853294"/>
          </a:xfrm>
          <a:custGeom>
            <a:avLst/>
            <a:gdLst/>
            <a:ahLst/>
            <a:cxnLst/>
            <a:rect r="r" b="b" t="t" l="l"/>
            <a:pathLst>
              <a:path h="2853294" w="7146695">
                <a:moveTo>
                  <a:pt x="0" y="0"/>
                </a:moveTo>
                <a:lnTo>
                  <a:pt x="7146695" y="0"/>
                </a:lnTo>
                <a:lnTo>
                  <a:pt x="7146695" y="2853294"/>
                </a:lnTo>
                <a:lnTo>
                  <a:pt x="0" y="2853294"/>
                </a:lnTo>
                <a:lnTo>
                  <a:pt x="0" y="0"/>
                </a:lnTo>
                <a:close/>
              </a:path>
            </a:pathLst>
          </a:custGeom>
          <a:blipFill>
            <a:blip r:embed="rId5"/>
            <a:stretch>
              <a:fillRect l="0" t="0" r="0" b="0"/>
            </a:stretch>
          </a:blipFill>
        </p:spPr>
      </p:sp>
      <p:sp>
        <p:nvSpPr>
          <p:cNvPr name="TextBox 8" id="8"/>
          <p:cNvSpPr txBox="true"/>
          <p:nvPr/>
        </p:nvSpPr>
        <p:spPr>
          <a:xfrm rot="0">
            <a:off x="1028700" y="1076325"/>
            <a:ext cx="16683561" cy="1029681"/>
          </a:xfrm>
          <a:prstGeom prst="rect">
            <a:avLst/>
          </a:prstGeom>
        </p:spPr>
        <p:txBody>
          <a:bodyPr anchor="t" rtlCol="false" tIns="0" lIns="0" bIns="0" rIns="0">
            <a:spAutoFit/>
          </a:bodyPr>
          <a:lstStyle/>
          <a:p>
            <a:pPr algn="l">
              <a:lnSpc>
                <a:spcPts val="8140"/>
              </a:lnSpc>
            </a:pPr>
            <a:r>
              <a:rPr lang="en-US" sz="6727" b="true">
                <a:solidFill>
                  <a:srgbClr val="FFFFFF"/>
                </a:solidFill>
                <a:latin typeface="Montserrat Bold"/>
                <a:ea typeface="Montserrat Bold"/>
                <a:cs typeface="Montserrat Bold"/>
                <a:sym typeface="Montserrat Bold"/>
              </a:rPr>
              <a:t>Basic Indicators: The Color Meanings</a:t>
            </a:r>
          </a:p>
        </p:txBody>
      </p:sp>
      <p:sp>
        <p:nvSpPr>
          <p:cNvPr name="TextBox 9" id="9"/>
          <p:cNvSpPr txBox="true"/>
          <p:nvPr/>
        </p:nvSpPr>
        <p:spPr>
          <a:xfrm rot="0">
            <a:off x="8575790" y="5284272"/>
            <a:ext cx="8683510" cy="3438526"/>
          </a:xfrm>
          <a:prstGeom prst="rect">
            <a:avLst/>
          </a:prstGeom>
        </p:spPr>
        <p:txBody>
          <a:bodyPr anchor="t" rtlCol="false" tIns="0" lIns="0" bIns="0" rIns="0">
            <a:spAutoFit/>
          </a:bodyPr>
          <a:lstStyle/>
          <a:p>
            <a:pPr algn="just">
              <a:lnSpc>
                <a:spcPts val="4589"/>
              </a:lnSpc>
            </a:pPr>
            <a:r>
              <a:rPr lang="en-US" sz="2699">
                <a:solidFill>
                  <a:srgbClr val="000000"/>
                </a:solidFill>
                <a:latin typeface="Montserrat"/>
                <a:ea typeface="Montserrat"/>
                <a:cs typeface="Montserrat"/>
                <a:sym typeface="Montserrat"/>
              </a:rPr>
              <a:t>The colors in these values show different meanings. </a:t>
            </a:r>
            <a:r>
              <a:rPr lang="en-US" sz="2699" b="true">
                <a:solidFill>
                  <a:srgbClr val="27AE46"/>
                </a:solidFill>
                <a:latin typeface="Montserrat Bold"/>
                <a:ea typeface="Montserrat Bold"/>
                <a:cs typeface="Montserrat Bold"/>
                <a:sym typeface="Montserrat Bold"/>
              </a:rPr>
              <a:t>Green</a:t>
            </a:r>
            <a:r>
              <a:rPr lang="en-US" sz="2699" b="true">
                <a:solidFill>
                  <a:srgbClr val="000000"/>
                </a:solidFill>
                <a:latin typeface="Montserrat Bold"/>
                <a:ea typeface="Montserrat Bold"/>
                <a:cs typeface="Montserrat Bold"/>
                <a:sym typeface="Montserrat Bold"/>
              </a:rPr>
              <a:t> </a:t>
            </a:r>
            <a:r>
              <a:rPr lang="en-US" sz="2699">
                <a:solidFill>
                  <a:srgbClr val="000000"/>
                </a:solidFill>
                <a:latin typeface="Montserrat"/>
                <a:ea typeface="Montserrat"/>
                <a:cs typeface="Montserrat"/>
                <a:sym typeface="Montserrat"/>
              </a:rPr>
              <a:t>means it performs better than last year and </a:t>
            </a:r>
            <a:r>
              <a:rPr lang="en-US" sz="2699" b="true">
                <a:solidFill>
                  <a:srgbClr val="E90F1E"/>
                </a:solidFill>
                <a:latin typeface="Montserrat Bold"/>
                <a:ea typeface="Montserrat Bold"/>
                <a:cs typeface="Montserrat Bold"/>
                <a:sym typeface="Montserrat Bold"/>
              </a:rPr>
              <a:t>Red </a:t>
            </a:r>
            <a:r>
              <a:rPr lang="en-US" sz="2699">
                <a:solidFill>
                  <a:srgbClr val="000000"/>
                </a:solidFill>
                <a:latin typeface="Montserrat"/>
                <a:ea typeface="Montserrat"/>
                <a:cs typeface="Montserrat"/>
                <a:sym typeface="Montserrat"/>
              </a:rPr>
              <a:t>means it performs worse instead.  For example, OPEX has increased compared to the last year. We do not want the expenses to increase, therefore, the value is </a:t>
            </a:r>
            <a:r>
              <a:rPr lang="en-US" sz="2699" b="true">
                <a:solidFill>
                  <a:srgbClr val="E90F1E"/>
                </a:solidFill>
                <a:latin typeface="Montserrat Bold"/>
                <a:ea typeface="Montserrat Bold"/>
                <a:cs typeface="Montserrat Bold"/>
                <a:sym typeface="Montserrat Bold"/>
              </a:rPr>
              <a:t>red</a:t>
            </a:r>
            <a:r>
              <a:rPr lang="en-US" sz="2699">
                <a:solidFill>
                  <a:srgbClr val="000000"/>
                </a:solidFill>
                <a:latin typeface="Montserrat"/>
                <a:ea typeface="Montserrat"/>
                <a:cs typeface="Montserrat"/>
                <a:sym typeface="Montserrat"/>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471003"/>
            <a:ext cx="25816251" cy="6092635"/>
          </a:xfrm>
          <a:custGeom>
            <a:avLst/>
            <a:gdLst/>
            <a:ahLst/>
            <a:cxnLst/>
            <a:rect r="r" b="b" t="t" l="l"/>
            <a:pathLst>
              <a:path h="6092635" w="25816251">
                <a:moveTo>
                  <a:pt x="0" y="6092635"/>
                </a:moveTo>
                <a:lnTo>
                  <a:pt x="25816251" y="6092635"/>
                </a:lnTo>
                <a:lnTo>
                  <a:pt x="25816251" y="0"/>
                </a:lnTo>
                <a:lnTo>
                  <a:pt x="0" y="0"/>
                </a:lnTo>
                <a:lnTo>
                  <a:pt x="0" y="60926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1020" y="-471003"/>
            <a:ext cx="1494080" cy="1499703"/>
          </a:xfrm>
          <a:custGeom>
            <a:avLst/>
            <a:gdLst/>
            <a:ahLst/>
            <a:cxnLst/>
            <a:rect r="r" b="b" t="t" l="l"/>
            <a:pathLst>
              <a:path h="1499703" w="1494080">
                <a:moveTo>
                  <a:pt x="0" y="0"/>
                </a:moveTo>
                <a:lnTo>
                  <a:pt x="1494080" y="0"/>
                </a:lnTo>
                <a:lnTo>
                  <a:pt x="1494080" y="1499703"/>
                </a:lnTo>
                <a:lnTo>
                  <a:pt x="0" y="1499703"/>
                </a:lnTo>
                <a:lnTo>
                  <a:pt x="0" y="0"/>
                </a:lnTo>
                <a:close/>
              </a:path>
            </a:pathLst>
          </a:custGeom>
          <a:blipFill>
            <a:blip r:embed="rId4">
              <a:alphaModFix amt="15000"/>
            </a:blip>
            <a:stretch>
              <a:fillRect l="0" t="0" r="0" b="0"/>
            </a:stretch>
          </a:blipFill>
        </p:spPr>
      </p:sp>
      <p:grpSp>
        <p:nvGrpSpPr>
          <p:cNvPr name="Group 4" id="4"/>
          <p:cNvGrpSpPr/>
          <p:nvPr/>
        </p:nvGrpSpPr>
        <p:grpSpPr>
          <a:xfrm rot="0">
            <a:off x="16573355" y="-324305"/>
            <a:ext cx="1138906" cy="113890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38100"/>
              <a:ext cx="660400" cy="774700"/>
            </a:xfrm>
            <a:prstGeom prst="rect">
              <a:avLst/>
            </a:prstGeom>
          </p:spPr>
          <p:txBody>
            <a:bodyPr anchor="ctr" rtlCol="false" tIns="50800" lIns="50800" bIns="50800" rIns="50800"/>
            <a:lstStyle/>
            <a:p>
              <a:pPr algn="ctr">
                <a:lnSpc>
                  <a:spcPts val="4168"/>
                </a:lnSpc>
              </a:pPr>
            </a:p>
          </p:txBody>
        </p:sp>
      </p:grpSp>
      <p:sp>
        <p:nvSpPr>
          <p:cNvPr name="Freeform 7" id="7"/>
          <p:cNvSpPr/>
          <p:nvPr/>
        </p:nvSpPr>
        <p:spPr>
          <a:xfrm flipH="false" flipV="false" rot="0">
            <a:off x="809121" y="5869504"/>
            <a:ext cx="7146695" cy="2853294"/>
          </a:xfrm>
          <a:custGeom>
            <a:avLst/>
            <a:gdLst/>
            <a:ahLst/>
            <a:cxnLst/>
            <a:rect r="r" b="b" t="t" l="l"/>
            <a:pathLst>
              <a:path h="2853294" w="7146695">
                <a:moveTo>
                  <a:pt x="0" y="0"/>
                </a:moveTo>
                <a:lnTo>
                  <a:pt x="7146695" y="0"/>
                </a:lnTo>
                <a:lnTo>
                  <a:pt x="7146695" y="2853294"/>
                </a:lnTo>
                <a:lnTo>
                  <a:pt x="0" y="2853294"/>
                </a:lnTo>
                <a:lnTo>
                  <a:pt x="0" y="0"/>
                </a:lnTo>
                <a:close/>
              </a:path>
            </a:pathLst>
          </a:custGeom>
          <a:blipFill>
            <a:blip r:embed="rId5"/>
            <a:stretch>
              <a:fillRect l="0" t="0" r="0" b="0"/>
            </a:stretch>
          </a:blipFill>
        </p:spPr>
      </p:sp>
      <p:sp>
        <p:nvSpPr>
          <p:cNvPr name="Freeform 8" id="8"/>
          <p:cNvSpPr/>
          <p:nvPr/>
        </p:nvSpPr>
        <p:spPr>
          <a:xfrm flipH="false" flipV="false" rot="0">
            <a:off x="589586" y="5869504"/>
            <a:ext cx="7585765" cy="2853294"/>
          </a:xfrm>
          <a:custGeom>
            <a:avLst/>
            <a:gdLst/>
            <a:ahLst/>
            <a:cxnLst/>
            <a:rect r="r" b="b" t="t" l="l"/>
            <a:pathLst>
              <a:path h="2853294" w="7585765">
                <a:moveTo>
                  <a:pt x="0" y="0"/>
                </a:moveTo>
                <a:lnTo>
                  <a:pt x="7585765" y="0"/>
                </a:lnTo>
                <a:lnTo>
                  <a:pt x="7585765" y="2853294"/>
                </a:lnTo>
                <a:lnTo>
                  <a:pt x="0" y="2853294"/>
                </a:lnTo>
                <a:lnTo>
                  <a:pt x="0" y="0"/>
                </a:lnTo>
                <a:close/>
              </a:path>
            </a:pathLst>
          </a:custGeom>
          <a:blipFill>
            <a:blip r:embed="rId6"/>
            <a:stretch>
              <a:fillRect l="-911" t="0" r="-911" b="0"/>
            </a:stretch>
          </a:blipFill>
        </p:spPr>
      </p:sp>
      <p:sp>
        <p:nvSpPr>
          <p:cNvPr name="TextBox 9" id="9"/>
          <p:cNvSpPr txBox="true"/>
          <p:nvPr/>
        </p:nvSpPr>
        <p:spPr>
          <a:xfrm rot="0">
            <a:off x="1028700" y="1076325"/>
            <a:ext cx="16683561" cy="1029681"/>
          </a:xfrm>
          <a:prstGeom prst="rect">
            <a:avLst/>
          </a:prstGeom>
        </p:spPr>
        <p:txBody>
          <a:bodyPr anchor="t" rtlCol="false" tIns="0" lIns="0" bIns="0" rIns="0">
            <a:spAutoFit/>
          </a:bodyPr>
          <a:lstStyle/>
          <a:p>
            <a:pPr algn="l">
              <a:lnSpc>
                <a:spcPts val="8140"/>
              </a:lnSpc>
            </a:pPr>
            <a:r>
              <a:rPr lang="en-US" sz="6727" b="true">
                <a:solidFill>
                  <a:srgbClr val="FFFFFF"/>
                </a:solidFill>
                <a:latin typeface="Montserrat Bold"/>
                <a:ea typeface="Montserrat Bold"/>
                <a:cs typeface="Montserrat Bold"/>
                <a:sym typeface="Montserrat Bold"/>
              </a:rPr>
              <a:t>Basic Indicators: The Color Meanings</a:t>
            </a:r>
          </a:p>
        </p:txBody>
      </p:sp>
      <p:sp>
        <p:nvSpPr>
          <p:cNvPr name="TextBox 10" id="10"/>
          <p:cNvSpPr txBox="true"/>
          <p:nvPr/>
        </p:nvSpPr>
        <p:spPr>
          <a:xfrm rot="0">
            <a:off x="8575790" y="5600700"/>
            <a:ext cx="8683510" cy="4019551"/>
          </a:xfrm>
          <a:prstGeom prst="rect">
            <a:avLst/>
          </a:prstGeom>
        </p:spPr>
        <p:txBody>
          <a:bodyPr anchor="t" rtlCol="false" tIns="0" lIns="0" bIns="0" rIns="0">
            <a:spAutoFit/>
          </a:bodyPr>
          <a:lstStyle/>
          <a:p>
            <a:pPr algn="just">
              <a:lnSpc>
                <a:spcPts val="4589"/>
              </a:lnSpc>
            </a:pPr>
            <a:r>
              <a:rPr lang="en-US" sz="2699">
                <a:solidFill>
                  <a:srgbClr val="000000"/>
                </a:solidFill>
                <a:latin typeface="Montserrat"/>
                <a:ea typeface="Montserrat"/>
                <a:cs typeface="Montserrat"/>
                <a:sym typeface="Montserrat"/>
              </a:rPr>
              <a:t>Or when CIR decreases (the cost is lower than the income generated compared to the  last year), it shows </a:t>
            </a:r>
            <a:r>
              <a:rPr lang="en-US" sz="2699">
                <a:solidFill>
                  <a:srgbClr val="27AE46"/>
                </a:solidFill>
                <a:latin typeface="Montserrat"/>
                <a:ea typeface="Montserrat"/>
                <a:cs typeface="Montserrat"/>
                <a:sym typeface="Montserrat"/>
              </a:rPr>
              <a:t>green </a:t>
            </a:r>
            <a:r>
              <a:rPr lang="en-US" sz="2699">
                <a:solidFill>
                  <a:srgbClr val="000000"/>
                </a:solidFill>
                <a:latin typeface="Montserrat"/>
                <a:ea typeface="Montserrat"/>
                <a:cs typeface="Montserrat"/>
                <a:sym typeface="Montserrat"/>
              </a:rPr>
              <a:t>value instead!</a:t>
            </a:r>
          </a:p>
          <a:p>
            <a:pPr algn="just">
              <a:lnSpc>
                <a:spcPts val="4589"/>
              </a:lnSpc>
            </a:pPr>
            <a:r>
              <a:rPr lang="en-US" sz="2699">
                <a:solidFill>
                  <a:srgbClr val="000000"/>
                </a:solidFill>
                <a:latin typeface="Montserrat"/>
                <a:ea typeface="Montserrat"/>
                <a:cs typeface="Montserrat"/>
                <a:sym typeface="Montserrat"/>
              </a:rPr>
              <a:t>==&gt; These indicators are simple enough even for non-finance students or viewers to understand and colourization are based on the logic of better or worse performance!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2309748" y="-858903"/>
            <a:ext cx="5978252" cy="8322392"/>
          </a:xfrm>
          <a:custGeom>
            <a:avLst/>
            <a:gdLst/>
            <a:ahLst/>
            <a:cxnLst/>
            <a:rect r="r" b="b" t="t" l="l"/>
            <a:pathLst>
              <a:path h="8322392" w="5978252">
                <a:moveTo>
                  <a:pt x="5978252" y="8322392"/>
                </a:moveTo>
                <a:lnTo>
                  <a:pt x="0" y="8322392"/>
                </a:lnTo>
                <a:lnTo>
                  <a:pt x="0" y="0"/>
                </a:lnTo>
                <a:lnTo>
                  <a:pt x="5978252" y="0"/>
                </a:lnTo>
                <a:lnTo>
                  <a:pt x="5978252" y="83223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338046" y="3589393"/>
            <a:ext cx="7719135" cy="7748191"/>
          </a:xfrm>
          <a:custGeom>
            <a:avLst/>
            <a:gdLst/>
            <a:ahLst/>
            <a:cxnLst/>
            <a:rect r="r" b="b" t="t" l="l"/>
            <a:pathLst>
              <a:path h="7748191" w="7719135">
                <a:moveTo>
                  <a:pt x="0" y="0"/>
                </a:moveTo>
                <a:lnTo>
                  <a:pt x="7719136" y="0"/>
                </a:lnTo>
                <a:lnTo>
                  <a:pt x="7719136" y="7748191"/>
                </a:lnTo>
                <a:lnTo>
                  <a:pt x="0" y="7748191"/>
                </a:lnTo>
                <a:lnTo>
                  <a:pt x="0" y="0"/>
                </a:lnTo>
                <a:close/>
              </a:path>
            </a:pathLst>
          </a:custGeom>
          <a:blipFill>
            <a:blip r:embed="rId4"/>
            <a:stretch>
              <a:fillRect l="0" t="0" r="0" b="0"/>
            </a:stretch>
          </a:blipFill>
        </p:spPr>
      </p:sp>
      <p:grpSp>
        <p:nvGrpSpPr>
          <p:cNvPr name="Group 4" id="4"/>
          <p:cNvGrpSpPr/>
          <p:nvPr/>
        </p:nvGrpSpPr>
        <p:grpSpPr>
          <a:xfrm rot="0">
            <a:off x="12512650" y="3778525"/>
            <a:ext cx="7369928" cy="736992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6923" t="0" r="-26923" b="0"/>
              </a:stretch>
            </a:blipFill>
            <a:ln w="285750" cap="sq">
              <a:solidFill>
                <a:srgbClr val="FFFFFF"/>
              </a:solidFill>
              <a:prstDash val="solid"/>
              <a:miter/>
            </a:ln>
          </p:spPr>
        </p:sp>
      </p:grpSp>
      <p:sp>
        <p:nvSpPr>
          <p:cNvPr name="Freeform 6" id="6"/>
          <p:cNvSpPr/>
          <p:nvPr/>
        </p:nvSpPr>
        <p:spPr>
          <a:xfrm flipH="false" flipV="false" rot="0">
            <a:off x="11873435" y="3302293"/>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78611" y="1762262"/>
            <a:ext cx="10589191" cy="4993134"/>
          </a:xfrm>
          <a:custGeom>
            <a:avLst/>
            <a:gdLst/>
            <a:ahLst/>
            <a:cxnLst/>
            <a:rect r="r" b="b" t="t" l="l"/>
            <a:pathLst>
              <a:path h="4993134" w="10589191">
                <a:moveTo>
                  <a:pt x="0" y="0"/>
                </a:moveTo>
                <a:lnTo>
                  <a:pt x="10589191" y="0"/>
                </a:lnTo>
                <a:lnTo>
                  <a:pt x="10589191" y="4993134"/>
                </a:lnTo>
                <a:lnTo>
                  <a:pt x="0" y="4993134"/>
                </a:lnTo>
                <a:lnTo>
                  <a:pt x="0" y="0"/>
                </a:lnTo>
                <a:close/>
              </a:path>
            </a:pathLst>
          </a:custGeom>
          <a:blipFill>
            <a:blip r:embed="rId8"/>
            <a:stretch>
              <a:fillRect l="0" t="0" r="0" b="-9218"/>
            </a:stretch>
          </a:blipFill>
        </p:spPr>
      </p:sp>
      <p:sp>
        <p:nvSpPr>
          <p:cNvPr name="TextBox 8" id="8"/>
          <p:cNvSpPr txBox="true"/>
          <p:nvPr/>
        </p:nvSpPr>
        <p:spPr>
          <a:xfrm rot="0">
            <a:off x="1078611" y="517543"/>
            <a:ext cx="12073254" cy="906775"/>
          </a:xfrm>
          <a:prstGeom prst="rect">
            <a:avLst/>
          </a:prstGeom>
        </p:spPr>
        <p:txBody>
          <a:bodyPr anchor="t" rtlCol="false" tIns="0" lIns="0" bIns="0" rIns="0">
            <a:spAutoFit/>
          </a:bodyPr>
          <a:lstStyle/>
          <a:p>
            <a:pPr algn="l">
              <a:lnSpc>
                <a:spcPts val="7264"/>
              </a:lnSpc>
            </a:pPr>
            <a:r>
              <a:rPr lang="en-US" sz="6003" b="true">
                <a:solidFill>
                  <a:srgbClr val="A21616"/>
                </a:solidFill>
                <a:latin typeface="Montserrat Bold"/>
                <a:ea typeface="Montserrat Bold"/>
                <a:cs typeface="Montserrat Bold"/>
                <a:sym typeface="Montserrat Bold"/>
              </a:rPr>
              <a:t>Trend Analysis: TOI and CIR</a:t>
            </a:r>
          </a:p>
        </p:txBody>
      </p:sp>
      <p:sp>
        <p:nvSpPr>
          <p:cNvPr name="TextBox 9" id="9"/>
          <p:cNvSpPr txBox="true"/>
          <p:nvPr/>
        </p:nvSpPr>
        <p:spPr>
          <a:xfrm rot="0">
            <a:off x="1028700" y="7020079"/>
            <a:ext cx="11281048" cy="3438525"/>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Bold"/>
                <a:ea typeface="Montserrat Bold"/>
                <a:cs typeface="Montserrat Bold"/>
                <a:sym typeface="Montserrat Bold"/>
              </a:rPr>
              <a:t>Comparing TOI and CIR YoY rate</a:t>
            </a:r>
            <a:r>
              <a:rPr lang="en-US" sz="2700" b="true">
                <a:solidFill>
                  <a:srgbClr val="000000"/>
                </a:solidFill>
                <a:latin typeface="Montserrat Medium"/>
                <a:ea typeface="Montserrat Medium"/>
                <a:cs typeface="Montserrat Medium"/>
                <a:sym typeface="Montserrat Medium"/>
              </a:rPr>
              <a:t>, one can see that despite the low TOI in the beginning, the CIR growth rate can decrease significantly in that period. This visualization helps people identify if the TCB’s revenue is growing due to excessive spending or better control at expenses</a:t>
            </a:r>
          </a:p>
          <a:p>
            <a:pPr algn="just">
              <a:lnSpc>
                <a:spcPts val="459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2309748" y="-858903"/>
            <a:ext cx="5978252" cy="8322392"/>
          </a:xfrm>
          <a:custGeom>
            <a:avLst/>
            <a:gdLst/>
            <a:ahLst/>
            <a:cxnLst/>
            <a:rect r="r" b="b" t="t" l="l"/>
            <a:pathLst>
              <a:path h="8322392" w="5978252">
                <a:moveTo>
                  <a:pt x="5978252" y="8322392"/>
                </a:moveTo>
                <a:lnTo>
                  <a:pt x="0" y="8322392"/>
                </a:lnTo>
                <a:lnTo>
                  <a:pt x="0" y="0"/>
                </a:lnTo>
                <a:lnTo>
                  <a:pt x="5978252" y="0"/>
                </a:lnTo>
                <a:lnTo>
                  <a:pt x="5978252" y="83223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338046" y="3589393"/>
            <a:ext cx="7719135" cy="7748191"/>
          </a:xfrm>
          <a:custGeom>
            <a:avLst/>
            <a:gdLst/>
            <a:ahLst/>
            <a:cxnLst/>
            <a:rect r="r" b="b" t="t" l="l"/>
            <a:pathLst>
              <a:path h="7748191" w="7719135">
                <a:moveTo>
                  <a:pt x="0" y="0"/>
                </a:moveTo>
                <a:lnTo>
                  <a:pt x="7719136" y="0"/>
                </a:lnTo>
                <a:lnTo>
                  <a:pt x="7719136" y="7748191"/>
                </a:lnTo>
                <a:lnTo>
                  <a:pt x="0" y="7748191"/>
                </a:lnTo>
                <a:lnTo>
                  <a:pt x="0" y="0"/>
                </a:lnTo>
                <a:close/>
              </a:path>
            </a:pathLst>
          </a:custGeom>
          <a:blipFill>
            <a:blip r:embed="rId4"/>
            <a:stretch>
              <a:fillRect l="0" t="0" r="0" b="0"/>
            </a:stretch>
          </a:blipFill>
        </p:spPr>
      </p:sp>
      <p:grpSp>
        <p:nvGrpSpPr>
          <p:cNvPr name="Group 4" id="4"/>
          <p:cNvGrpSpPr/>
          <p:nvPr/>
        </p:nvGrpSpPr>
        <p:grpSpPr>
          <a:xfrm rot="0">
            <a:off x="12512650" y="3778525"/>
            <a:ext cx="7369928" cy="736992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6923" t="0" r="-26923" b="0"/>
              </a:stretch>
            </a:blipFill>
            <a:ln w="285750" cap="sq">
              <a:solidFill>
                <a:srgbClr val="FFFFFF"/>
              </a:solidFill>
              <a:prstDash val="solid"/>
              <a:miter/>
            </a:ln>
          </p:spPr>
        </p:sp>
      </p:grpSp>
      <p:sp>
        <p:nvSpPr>
          <p:cNvPr name="Freeform 6" id="6"/>
          <p:cNvSpPr/>
          <p:nvPr/>
        </p:nvSpPr>
        <p:spPr>
          <a:xfrm flipH="false" flipV="false" rot="0">
            <a:off x="11873435" y="3302293"/>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78611" y="1762262"/>
            <a:ext cx="10589191" cy="4993134"/>
          </a:xfrm>
          <a:custGeom>
            <a:avLst/>
            <a:gdLst/>
            <a:ahLst/>
            <a:cxnLst/>
            <a:rect r="r" b="b" t="t" l="l"/>
            <a:pathLst>
              <a:path h="4993134" w="10589191">
                <a:moveTo>
                  <a:pt x="0" y="0"/>
                </a:moveTo>
                <a:lnTo>
                  <a:pt x="10589191" y="0"/>
                </a:lnTo>
                <a:lnTo>
                  <a:pt x="10589191" y="4993134"/>
                </a:lnTo>
                <a:lnTo>
                  <a:pt x="0" y="4993134"/>
                </a:lnTo>
                <a:lnTo>
                  <a:pt x="0" y="0"/>
                </a:lnTo>
                <a:close/>
              </a:path>
            </a:pathLst>
          </a:custGeom>
          <a:blipFill>
            <a:blip r:embed="rId8"/>
            <a:stretch>
              <a:fillRect l="0" t="0" r="0" b="-9218"/>
            </a:stretch>
          </a:blipFill>
        </p:spPr>
      </p:sp>
      <p:sp>
        <p:nvSpPr>
          <p:cNvPr name="TextBox 8" id="8"/>
          <p:cNvSpPr txBox="true"/>
          <p:nvPr/>
        </p:nvSpPr>
        <p:spPr>
          <a:xfrm rot="0">
            <a:off x="1078611" y="517543"/>
            <a:ext cx="12073254" cy="906775"/>
          </a:xfrm>
          <a:prstGeom prst="rect">
            <a:avLst/>
          </a:prstGeom>
        </p:spPr>
        <p:txBody>
          <a:bodyPr anchor="t" rtlCol="false" tIns="0" lIns="0" bIns="0" rIns="0">
            <a:spAutoFit/>
          </a:bodyPr>
          <a:lstStyle/>
          <a:p>
            <a:pPr algn="l">
              <a:lnSpc>
                <a:spcPts val="7264"/>
              </a:lnSpc>
            </a:pPr>
            <a:r>
              <a:rPr lang="en-US" sz="6003" b="true">
                <a:solidFill>
                  <a:srgbClr val="A21616"/>
                </a:solidFill>
                <a:latin typeface="Montserrat Bold"/>
                <a:ea typeface="Montserrat Bold"/>
                <a:cs typeface="Montserrat Bold"/>
                <a:sym typeface="Montserrat Bold"/>
              </a:rPr>
              <a:t>Trend Analysis: TOI and CIR</a:t>
            </a:r>
          </a:p>
        </p:txBody>
      </p:sp>
      <p:sp>
        <p:nvSpPr>
          <p:cNvPr name="TextBox 9" id="9"/>
          <p:cNvSpPr txBox="true"/>
          <p:nvPr/>
        </p:nvSpPr>
        <p:spPr>
          <a:xfrm rot="0">
            <a:off x="1028700" y="7020079"/>
            <a:ext cx="11281048" cy="1695450"/>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Medium"/>
                <a:ea typeface="Montserrat Medium"/>
                <a:cs typeface="Montserrat Medium"/>
                <a:sym typeface="Montserrat Medium"/>
              </a:rPr>
              <a:t>Moreover, to see parts of income, the bar shows three types which are </a:t>
            </a:r>
            <a:r>
              <a:rPr lang="en-US" sz="2700" b="true">
                <a:solidFill>
                  <a:srgbClr val="000000"/>
                </a:solidFill>
                <a:latin typeface="Montserrat Bold"/>
                <a:ea typeface="Montserrat Bold"/>
                <a:cs typeface="Montserrat Bold"/>
                <a:sym typeface="Montserrat Bold"/>
              </a:rPr>
              <a:t>Net Interest Income, Net Service Income</a:t>
            </a:r>
            <a:r>
              <a:rPr lang="en-US" sz="2700" b="true">
                <a:solidFill>
                  <a:srgbClr val="000000"/>
                </a:solidFill>
                <a:latin typeface="Montserrat Medium"/>
                <a:ea typeface="Montserrat Medium"/>
                <a:cs typeface="Montserrat Medium"/>
                <a:sym typeface="Montserrat Medium"/>
              </a:rPr>
              <a:t> and</a:t>
            </a:r>
            <a:r>
              <a:rPr lang="en-US" sz="2700" b="true">
                <a:solidFill>
                  <a:srgbClr val="000000"/>
                </a:solidFill>
                <a:latin typeface="Montserrat Bold"/>
                <a:ea typeface="Montserrat Bold"/>
                <a:cs typeface="Montserrat Bold"/>
                <a:sym typeface="Montserrat Bold"/>
              </a:rPr>
              <a:t> Other categories </a:t>
            </a:r>
            <a:r>
              <a:rPr lang="en-US" sz="2700" b="true">
                <a:solidFill>
                  <a:srgbClr val="000000"/>
                </a:solidFill>
                <a:latin typeface="Montserrat Medium"/>
                <a:ea typeface="Montserrat Medium"/>
                <a:cs typeface="Montserrat Medium"/>
                <a:sym typeface="Montserrat Medium"/>
              </a:rPr>
              <a:t>of income as well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2309748" y="-858903"/>
            <a:ext cx="5978252" cy="8322392"/>
          </a:xfrm>
          <a:custGeom>
            <a:avLst/>
            <a:gdLst/>
            <a:ahLst/>
            <a:cxnLst/>
            <a:rect r="r" b="b" t="t" l="l"/>
            <a:pathLst>
              <a:path h="8322392" w="5978252">
                <a:moveTo>
                  <a:pt x="5978252" y="8322392"/>
                </a:moveTo>
                <a:lnTo>
                  <a:pt x="0" y="8322392"/>
                </a:lnTo>
                <a:lnTo>
                  <a:pt x="0" y="0"/>
                </a:lnTo>
                <a:lnTo>
                  <a:pt x="5978252" y="0"/>
                </a:lnTo>
                <a:lnTo>
                  <a:pt x="5978252" y="83223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338046" y="3589393"/>
            <a:ext cx="7719135" cy="7748191"/>
          </a:xfrm>
          <a:custGeom>
            <a:avLst/>
            <a:gdLst/>
            <a:ahLst/>
            <a:cxnLst/>
            <a:rect r="r" b="b" t="t" l="l"/>
            <a:pathLst>
              <a:path h="7748191" w="7719135">
                <a:moveTo>
                  <a:pt x="0" y="0"/>
                </a:moveTo>
                <a:lnTo>
                  <a:pt x="7719136" y="0"/>
                </a:lnTo>
                <a:lnTo>
                  <a:pt x="7719136" y="7748191"/>
                </a:lnTo>
                <a:lnTo>
                  <a:pt x="0" y="7748191"/>
                </a:lnTo>
                <a:lnTo>
                  <a:pt x="0" y="0"/>
                </a:lnTo>
                <a:close/>
              </a:path>
            </a:pathLst>
          </a:custGeom>
          <a:blipFill>
            <a:blip r:embed="rId4"/>
            <a:stretch>
              <a:fillRect l="0" t="0" r="0" b="0"/>
            </a:stretch>
          </a:blipFill>
        </p:spPr>
      </p:sp>
      <p:grpSp>
        <p:nvGrpSpPr>
          <p:cNvPr name="Group 4" id="4"/>
          <p:cNvGrpSpPr/>
          <p:nvPr/>
        </p:nvGrpSpPr>
        <p:grpSpPr>
          <a:xfrm rot="0">
            <a:off x="12512650" y="3778525"/>
            <a:ext cx="7369928" cy="736992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6923" t="0" r="-26923" b="0"/>
              </a:stretch>
            </a:blipFill>
            <a:ln w="285750" cap="sq">
              <a:solidFill>
                <a:srgbClr val="FFFFFF"/>
              </a:solidFill>
              <a:prstDash val="solid"/>
              <a:miter/>
            </a:ln>
          </p:spPr>
        </p:sp>
      </p:grpSp>
      <p:sp>
        <p:nvSpPr>
          <p:cNvPr name="Freeform 6" id="6"/>
          <p:cNvSpPr/>
          <p:nvPr/>
        </p:nvSpPr>
        <p:spPr>
          <a:xfrm flipH="false" flipV="false" rot="0">
            <a:off x="11873435" y="3302293"/>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1424319"/>
            <a:ext cx="5810173" cy="8862681"/>
          </a:xfrm>
          <a:custGeom>
            <a:avLst/>
            <a:gdLst/>
            <a:ahLst/>
            <a:cxnLst/>
            <a:rect r="r" b="b" t="t" l="l"/>
            <a:pathLst>
              <a:path h="8862681" w="5810173">
                <a:moveTo>
                  <a:pt x="0" y="0"/>
                </a:moveTo>
                <a:lnTo>
                  <a:pt x="5810173" y="0"/>
                </a:lnTo>
                <a:lnTo>
                  <a:pt x="5810173" y="8862681"/>
                </a:lnTo>
                <a:lnTo>
                  <a:pt x="0" y="8862681"/>
                </a:lnTo>
                <a:lnTo>
                  <a:pt x="0" y="0"/>
                </a:lnTo>
                <a:close/>
              </a:path>
            </a:pathLst>
          </a:custGeom>
          <a:blipFill>
            <a:blip r:embed="rId8"/>
            <a:stretch>
              <a:fillRect l="0" t="0" r="0" b="0"/>
            </a:stretch>
          </a:blipFill>
        </p:spPr>
      </p:sp>
      <p:sp>
        <p:nvSpPr>
          <p:cNvPr name="TextBox 8" id="8"/>
          <p:cNvSpPr txBox="true"/>
          <p:nvPr/>
        </p:nvSpPr>
        <p:spPr>
          <a:xfrm rot="0">
            <a:off x="1078611" y="517543"/>
            <a:ext cx="12073254" cy="906775"/>
          </a:xfrm>
          <a:prstGeom prst="rect">
            <a:avLst/>
          </a:prstGeom>
        </p:spPr>
        <p:txBody>
          <a:bodyPr anchor="t" rtlCol="false" tIns="0" lIns="0" bIns="0" rIns="0">
            <a:spAutoFit/>
          </a:bodyPr>
          <a:lstStyle/>
          <a:p>
            <a:pPr algn="l">
              <a:lnSpc>
                <a:spcPts val="7264"/>
              </a:lnSpc>
            </a:pPr>
            <a:r>
              <a:rPr lang="en-US" sz="6003" b="true">
                <a:solidFill>
                  <a:srgbClr val="A21616"/>
                </a:solidFill>
                <a:latin typeface="Montserrat Bold"/>
                <a:ea typeface="Montserrat Bold"/>
                <a:cs typeface="Montserrat Bold"/>
                <a:sym typeface="Montserrat Bold"/>
              </a:rPr>
              <a:t>Trend Analysis: ROE and ROA</a:t>
            </a:r>
          </a:p>
        </p:txBody>
      </p:sp>
      <p:sp>
        <p:nvSpPr>
          <p:cNvPr name="TextBox 9" id="9"/>
          <p:cNvSpPr txBox="true"/>
          <p:nvPr/>
        </p:nvSpPr>
        <p:spPr>
          <a:xfrm rot="0">
            <a:off x="5810173" y="2282813"/>
            <a:ext cx="5832812" cy="5762625"/>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Medium"/>
                <a:ea typeface="Montserrat Medium"/>
                <a:cs typeface="Montserrat Medium"/>
                <a:sym typeface="Montserrat Medium"/>
              </a:rPr>
              <a:t>Another useful trend is to see the comparsion between ROE and ROA overtime since they are quite similar to each other in definition. But in fact,  their perfomance are different when the average value for each indicator is added.  </a:t>
            </a:r>
          </a:p>
          <a:p>
            <a:pPr algn="just">
              <a:lnSpc>
                <a:spcPts val="4590"/>
              </a:lnSpc>
            </a:pPr>
            <a:r>
              <a:rPr lang="en-US" sz="2700" b="true">
                <a:solidFill>
                  <a:srgbClr val="000000"/>
                </a:solidFill>
                <a:latin typeface="Montserrat Medium"/>
                <a:ea typeface="Montserrat Medium"/>
                <a:cs typeface="Montserrat Medium"/>
                <a:sym typeface="Montserrat Medium"/>
              </a:rPr>
              <a:t>==&gt; In short, it is the comparison between </a:t>
            </a:r>
            <a:r>
              <a:rPr lang="en-US" sz="2700" b="true">
                <a:solidFill>
                  <a:srgbClr val="000000"/>
                </a:solidFill>
                <a:latin typeface="Montserrat Bold"/>
                <a:ea typeface="Montserrat Bold"/>
                <a:cs typeface="Montserrat Bold"/>
                <a:sym typeface="Montserrat Bold"/>
              </a:rPr>
              <a:t>Stability</a:t>
            </a:r>
            <a:r>
              <a:rPr lang="en-US" sz="2700" b="true">
                <a:solidFill>
                  <a:srgbClr val="000000"/>
                </a:solidFill>
                <a:latin typeface="Montserrat Medium"/>
                <a:ea typeface="Montserrat Medium"/>
                <a:cs typeface="Montserrat Medium"/>
                <a:sym typeface="Montserrat Medium"/>
              </a:rPr>
              <a:t> and </a:t>
            </a:r>
            <a:r>
              <a:rPr lang="en-US" sz="2700" b="true">
                <a:solidFill>
                  <a:srgbClr val="000000"/>
                </a:solidFill>
                <a:latin typeface="Montserrat Bold"/>
                <a:ea typeface="Montserrat Bold"/>
                <a:cs typeface="Montserrat Bold"/>
                <a:sym typeface="Montserrat Bold"/>
              </a:rPr>
              <a:t>Growth</a:t>
            </a:r>
            <a:r>
              <a:rPr lang="en-US" sz="2700" b="true">
                <a:solidFill>
                  <a:srgbClr val="000000"/>
                </a:solidFill>
                <a:latin typeface="Montserrat Medium"/>
                <a:ea typeface="Montserrat Medium"/>
                <a:cs typeface="Montserrat Medium"/>
                <a:sym typeface="Montserrat Medium"/>
              </a:rPr>
              <a: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07993" y="1436910"/>
            <a:ext cx="14362801" cy="886467"/>
          </a:xfrm>
          <a:prstGeom prst="rect">
            <a:avLst/>
          </a:prstGeom>
        </p:spPr>
        <p:txBody>
          <a:bodyPr anchor="t" rtlCol="false" tIns="0" lIns="0" bIns="0" rIns="0">
            <a:spAutoFit/>
          </a:bodyPr>
          <a:lstStyle/>
          <a:p>
            <a:pPr algn="l">
              <a:lnSpc>
                <a:spcPts val="7019"/>
              </a:lnSpc>
            </a:pPr>
            <a:r>
              <a:rPr lang="en-US" sz="5801" b="true">
                <a:solidFill>
                  <a:srgbClr val="A21616"/>
                </a:solidFill>
                <a:latin typeface="Montserrat Bold"/>
                <a:ea typeface="Montserrat Bold"/>
                <a:cs typeface="Montserrat Bold"/>
                <a:sym typeface="Montserrat Bold"/>
              </a:rPr>
              <a:t>Cash flow Analysis: OPEX Analysis</a:t>
            </a:r>
          </a:p>
        </p:txBody>
      </p:sp>
      <p:sp>
        <p:nvSpPr>
          <p:cNvPr name="Freeform 3" id="3"/>
          <p:cNvSpPr/>
          <p:nvPr/>
        </p:nvSpPr>
        <p:spPr>
          <a:xfrm flipH="true" flipV="false" rot="0">
            <a:off x="9372935" y="-878188"/>
            <a:ext cx="11334665" cy="7400591"/>
          </a:xfrm>
          <a:custGeom>
            <a:avLst/>
            <a:gdLst/>
            <a:ahLst/>
            <a:cxnLst/>
            <a:rect r="r" b="b" t="t" l="l"/>
            <a:pathLst>
              <a:path h="7400591" w="11334665">
                <a:moveTo>
                  <a:pt x="11334665" y="0"/>
                </a:moveTo>
                <a:lnTo>
                  <a:pt x="0" y="0"/>
                </a:lnTo>
                <a:lnTo>
                  <a:pt x="0" y="7400592"/>
                </a:lnTo>
                <a:lnTo>
                  <a:pt x="11334665" y="7400592"/>
                </a:lnTo>
                <a:lnTo>
                  <a:pt x="1133466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632516" y="2323392"/>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07993" y="2999362"/>
            <a:ext cx="10707813" cy="5857804"/>
          </a:xfrm>
          <a:custGeom>
            <a:avLst/>
            <a:gdLst/>
            <a:ahLst/>
            <a:cxnLst/>
            <a:rect r="r" b="b" t="t" l="l"/>
            <a:pathLst>
              <a:path h="5857804" w="10707813">
                <a:moveTo>
                  <a:pt x="0" y="0"/>
                </a:moveTo>
                <a:lnTo>
                  <a:pt x="10707813" y="0"/>
                </a:lnTo>
                <a:lnTo>
                  <a:pt x="10707813" y="5857804"/>
                </a:lnTo>
                <a:lnTo>
                  <a:pt x="0" y="5857804"/>
                </a:lnTo>
                <a:lnTo>
                  <a:pt x="0" y="0"/>
                </a:lnTo>
                <a:close/>
              </a:path>
            </a:pathLst>
          </a:custGeom>
          <a:blipFill>
            <a:blip r:embed="rId6"/>
            <a:stretch>
              <a:fillRect l="0" t="0" r="0" b="0"/>
            </a:stretch>
          </a:blipFill>
        </p:spPr>
      </p:sp>
      <p:sp>
        <p:nvSpPr>
          <p:cNvPr name="TextBox 6" id="6"/>
          <p:cNvSpPr txBox="true"/>
          <p:nvPr/>
        </p:nvSpPr>
        <p:spPr>
          <a:xfrm rot="0">
            <a:off x="12123862" y="3501142"/>
            <a:ext cx="5832812" cy="5181600"/>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Medium"/>
                <a:ea typeface="Montserrat Medium"/>
                <a:cs typeface="Montserrat Medium"/>
                <a:sym typeface="Montserrat Medium"/>
              </a:rPr>
              <a:t>Since most of the visualization are only about income, now the focus should be on the cost. In finance, </a:t>
            </a:r>
            <a:r>
              <a:rPr lang="en-US" sz="2700" b="true">
                <a:solidFill>
                  <a:srgbClr val="000000"/>
                </a:solidFill>
                <a:latin typeface="Montserrat Bold"/>
                <a:ea typeface="Montserrat Bold"/>
                <a:cs typeface="Montserrat Bold"/>
                <a:sym typeface="Montserrat Bold"/>
              </a:rPr>
              <a:t>cost analysis can be developed into its own domain of study</a:t>
            </a:r>
            <a:r>
              <a:rPr lang="en-US" sz="2700" b="true">
                <a:solidFill>
                  <a:srgbClr val="000000"/>
                </a:solidFill>
                <a:latin typeface="Montserrat Medium"/>
                <a:ea typeface="Montserrat Medium"/>
                <a:cs typeface="Montserrat Medium"/>
                <a:sym typeface="Montserrat Medium"/>
              </a:rPr>
              <a:t>. However, for the purpose  of simplification, OPEX is divided into three types: </a:t>
            </a:r>
            <a:r>
              <a:rPr lang="en-US" sz="2700" b="true">
                <a:solidFill>
                  <a:srgbClr val="000000"/>
                </a:solidFill>
                <a:latin typeface="Montserrat Bold"/>
                <a:ea typeface="Montserrat Bold"/>
                <a:cs typeface="Montserrat Bold"/>
                <a:sym typeface="Montserrat Bold"/>
              </a:rPr>
              <a:t>Admin, Service</a:t>
            </a:r>
            <a:r>
              <a:rPr lang="en-US" sz="2700" b="true">
                <a:solidFill>
                  <a:srgbClr val="000000"/>
                </a:solidFill>
                <a:latin typeface="Montserrat Medium"/>
                <a:ea typeface="Montserrat Medium"/>
                <a:cs typeface="Montserrat Medium"/>
                <a:sym typeface="Montserrat Medium"/>
              </a:rPr>
              <a:t> and </a:t>
            </a:r>
            <a:r>
              <a:rPr lang="en-US" sz="2700" b="true">
                <a:solidFill>
                  <a:srgbClr val="000000"/>
                </a:solidFill>
                <a:latin typeface="Montserrat Bold"/>
                <a:ea typeface="Montserrat Bold"/>
                <a:cs typeface="Montserrat Bold"/>
                <a:sym typeface="Montserrat Bold"/>
              </a:rPr>
              <a:t>Other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07993" y="1436910"/>
            <a:ext cx="14362801" cy="886467"/>
          </a:xfrm>
          <a:prstGeom prst="rect">
            <a:avLst/>
          </a:prstGeom>
        </p:spPr>
        <p:txBody>
          <a:bodyPr anchor="t" rtlCol="false" tIns="0" lIns="0" bIns="0" rIns="0">
            <a:spAutoFit/>
          </a:bodyPr>
          <a:lstStyle/>
          <a:p>
            <a:pPr algn="l">
              <a:lnSpc>
                <a:spcPts val="7019"/>
              </a:lnSpc>
            </a:pPr>
            <a:r>
              <a:rPr lang="en-US" sz="5801" b="true">
                <a:solidFill>
                  <a:srgbClr val="A21616"/>
                </a:solidFill>
                <a:latin typeface="Montserrat Bold"/>
                <a:ea typeface="Montserrat Bold"/>
                <a:cs typeface="Montserrat Bold"/>
                <a:sym typeface="Montserrat Bold"/>
              </a:rPr>
              <a:t>Cash flow Analysis: OPEX Analysis</a:t>
            </a:r>
          </a:p>
        </p:txBody>
      </p:sp>
      <p:sp>
        <p:nvSpPr>
          <p:cNvPr name="Freeform 3" id="3"/>
          <p:cNvSpPr/>
          <p:nvPr/>
        </p:nvSpPr>
        <p:spPr>
          <a:xfrm flipH="true" flipV="false" rot="0">
            <a:off x="9372935" y="-878188"/>
            <a:ext cx="11334665" cy="7400591"/>
          </a:xfrm>
          <a:custGeom>
            <a:avLst/>
            <a:gdLst/>
            <a:ahLst/>
            <a:cxnLst/>
            <a:rect r="r" b="b" t="t" l="l"/>
            <a:pathLst>
              <a:path h="7400591" w="11334665">
                <a:moveTo>
                  <a:pt x="11334665" y="0"/>
                </a:moveTo>
                <a:lnTo>
                  <a:pt x="0" y="0"/>
                </a:lnTo>
                <a:lnTo>
                  <a:pt x="0" y="7400592"/>
                </a:lnTo>
                <a:lnTo>
                  <a:pt x="11334665" y="7400592"/>
                </a:lnTo>
                <a:lnTo>
                  <a:pt x="1133466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632516" y="2323392"/>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07993" y="2999362"/>
            <a:ext cx="10707813" cy="5857804"/>
          </a:xfrm>
          <a:custGeom>
            <a:avLst/>
            <a:gdLst/>
            <a:ahLst/>
            <a:cxnLst/>
            <a:rect r="r" b="b" t="t" l="l"/>
            <a:pathLst>
              <a:path h="5857804" w="10707813">
                <a:moveTo>
                  <a:pt x="0" y="0"/>
                </a:moveTo>
                <a:lnTo>
                  <a:pt x="10707813" y="0"/>
                </a:lnTo>
                <a:lnTo>
                  <a:pt x="10707813" y="5857804"/>
                </a:lnTo>
                <a:lnTo>
                  <a:pt x="0" y="5857804"/>
                </a:lnTo>
                <a:lnTo>
                  <a:pt x="0" y="0"/>
                </a:lnTo>
                <a:close/>
              </a:path>
            </a:pathLst>
          </a:custGeom>
          <a:blipFill>
            <a:blip r:embed="rId6"/>
            <a:stretch>
              <a:fillRect l="0" t="0" r="0" b="0"/>
            </a:stretch>
          </a:blipFill>
        </p:spPr>
      </p:sp>
      <p:sp>
        <p:nvSpPr>
          <p:cNvPr name="TextBox 6" id="6"/>
          <p:cNvSpPr txBox="true"/>
          <p:nvPr/>
        </p:nvSpPr>
        <p:spPr>
          <a:xfrm rot="0">
            <a:off x="12123862" y="3501142"/>
            <a:ext cx="5832812" cy="6343650"/>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Bold"/>
                <a:ea typeface="Montserrat Bold"/>
                <a:cs typeface="Montserrat Bold"/>
                <a:sym typeface="Montserrat Bold"/>
              </a:rPr>
              <a:t>Admin expense</a:t>
            </a:r>
            <a:r>
              <a:rPr lang="en-US" sz="2700" b="true">
                <a:solidFill>
                  <a:srgbClr val="000000"/>
                </a:solidFill>
                <a:latin typeface="Montserrat Medium"/>
                <a:ea typeface="Montserrat Medium"/>
                <a:cs typeface="Montserrat Medium"/>
                <a:sym typeface="Montserrat Medium"/>
              </a:rPr>
              <a:t> is the cost covering from salaries, utilities to the bank overhead </a:t>
            </a:r>
          </a:p>
          <a:p>
            <a:pPr algn="just">
              <a:lnSpc>
                <a:spcPts val="4590"/>
              </a:lnSpc>
            </a:pPr>
          </a:p>
          <a:p>
            <a:pPr algn="just">
              <a:lnSpc>
                <a:spcPts val="4590"/>
              </a:lnSpc>
            </a:pPr>
            <a:r>
              <a:rPr lang="en-US" sz="2700" b="true">
                <a:solidFill>
                  <a:srgbClr val="000000"/>
                </a:solidFill>
                <a:latin typeface="Montserrat Bold"/>
                <a:ea typeface="Montserrat Bold"/>
                <a:cs typeface="Montserrat Bold"/>
                <a:sym typeface="Montserrat Bold"/>
              </a:rPr>
              <a:t>Service expense</a:t>
            </a:r>
            <a:r>
              <a:rPr lang="en-US" sz="2700" b="true">
                <a:solidFill>
                  <a:srgbClr val="000000"/>
                </a:solidFill>
                <a:latin typeface="Montserrat Medium"/>
                <a:ea typeface="Montserrat Medium"/>
                <a:cs typeface="Montserrat Medium"/>
                <a:sym typeface="Montserrat Medium"/>
              </a:rPr>
              <a:t> is the cost related to customer service, transaction processing or any fees from third-party services. </a:t>
            </a:r>
          </a:p>
          <a:p>
            <a:pPr algn="just">
              <a:lnSpc>
                <a:spcPts val="4590"/>
              </a:lnSpc>
            </a:pPr>
          </a:p>
          <a:p>
            <a:pPr algn="just">
              <a:lnSpc>
                <a:spcPts val="4590"/>
              </a:lnSpc>
            </a:pPr>
            <a:r>
              <a:rPr lang="en-US" sz="2700" b="true">
                <a:solidFill>
                  <a:srgbClr val="000000"/>
                </a:solidFill>
                <a:latin typeface="Montserrat Bold"/>
                <a:ea typeface="Montserrat Bold"/>
                <a:cs typeface="Montserrat Bold"/>
                <a:sym typeface="Montserrat Bold"/>
              </a:rPr>
              <a:t>Other expenses</a:t>
            </a:r>
            <a:r>
              <a:rPr lang="en-US" sz="2700" b="true">
                <a:solidFill>
                  <a:srgbClr val="000000"/>
                </a:solidFill>
                <a:latin typeface="Montserrat Medium"/>
                <a:ea typeface="Montserrat Medium"/>
                <a:cs typeface="Montserrat Medium"/>
                <a:sym typeface="Montserrat Medium"/>
              </a:rPr>
              <a:t> show that there are other small costs together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2558438" y="3024952"/>
            <a:ext cx="5978252" cy="8322392"/>
          </a:xfrm>
          <a:custGeom>
            <a:avLst/>
            <a:gdLst/>
            <a:ahLst/>
            <a:cxnLst/>
            <a:rect r="r" b="b" t="t" l="l"/>
            <a:pathLst>
              <a:path h="8322392" w="5978252">
                <a:moveTo>
                  <a:pt x="5978251" y="0"/>
                </a:moveTo>
                <a:lnTo>
                  <a:pt x="0" y="0"/>
                </a:lnTo>
                <a:lnTo>
                  <a:pt x="0" y="8322392"/>
                </a:lnTo>
                <a:lnTo>
                  <a:pt x="5978251" y="8322392"/>
                </a:lnTo>
                <a:lnTo>
                  <a:pt x="59782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34875" y="-1294649"/>
            <a:ext cx="7719135" cy="7748191"/>
          </a:xfrm>
          <a:custGeom>
            <a:avLst/>
            <a:gdLst/>
            <a:ahLst/>
            <a:cxnLst/>
            <a:rect r="r" b="b" t="t" l="l"/>
            <a:pathLst>
              <a:path h="7748191" w="7719135">
                <a:moveTo>
                  <a:pt x="0" y="0"/>
                </a:moveTo>
                <a:lnTo>
                  <a:pt x="7719135" y="0"/>
                </a:lnTo>
                <a:lnTo>
                  <a:pt x="7719135" y="7748191"/>
                </a:lnTo>
                <a:lnTo>
                  <a:pt x="0" y="7748191"/>
                </a:lnTo>
                <a:lnTo>
                  <a:pt x="0" y="0"/>
                </a:lnTo>
                <a:close/>
              </a:path>
            </a:pathLst>
          </a:custGeom>
          <a:blipFill>
            <a:blip r:embed="rId4"/>
            <a:stretch>
              <a:fillRect l="0" t="0" r="0" b="0"/>
            </a:stretch>
          </a:blipFill>
        </p:spPr>
      </p:sp>
      <p:grpSp>
        <p:nvGrpSpPr>
          <p:cNvPr name="Group 4" id="4"/>
          <p:cNvGrpSpPr/>
          <p:nvPr/>
        </p:nvGrpSpPr>
        <p:grpSpPr>
          <a:xfrm rot="0">
            <a:off x="12909478" y="-1105518"/>
            <a:ext cx="7369928" cy="736992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t="0" r="-25046" b="0"/>
              </a:stretch>
            </a:blipFill>
            <a:ln w="285750" cap="sq">
              <a:solidFill>
                <a:srgbClr val="FFFFFF"/>
              </a:solidFill>
              <a:prstDash val="solid"/>
              <a:miter/>
            </a:ln>
          </p:spPr>
        </p:sp>
      </p:grpSp>
      <p:sp>
        <p:nvSpPr>
          <p:cNvPr name="Freeform 6" id="6"/>
          <p:cNvSpPr/>
          <p:nvPr/>
        </p:nvSpPr>
        <p:spPr>
          <a:xfrm flipH="false" flipV="false" rot="0">
            <a:off x="12270263" y="6848163"/>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76951" y="4430498"/>
            <a:ext cx="10465378" cy="5856502"/>
          </a:xfrm>
          <a:custGeom>
            <a:avLst/>
            <a:gdLst/>
            <a:ahLst/>
            <a:cxnLst/>
            <a:rect r="r" b="b" t="t" l="l"/>
            <a:pathLst>
              <a:path h="5856502" w="10465378">
                <a:moveTo>
                  <a:pt x="0" y="0"/>
                </a:moveTo>
                <a:lnTo>
                  <a:pt x="10465378" y="0"/>
                </a:lnTo>
                <a:lnTo>
                  <a:pt x="10465378" y="5856502"/>
                </a:lnTo>
                <a:lnTo>
                  <a:pt x="0" y="5856502"/>
                </a:lnTo>
                <a:lnTo>
                  <a:pt x="0" y="0"/>
                </a:lnTo>
                <a:close/>
              </a:path>
            </a:pathLst>
          </a:custGeom>
          <a:blipFill>
            <a:blip r:embed="rId8"/>
            <a:stretch>
              <a:fillRect l="0" t="0" r="0" b="0"/>
            </a:stretch>
          </a:blipFill>
        </p:spPr>
      </p:sp>
      <p:sp>
        <p:nvSpPr>
          <p:cNvPr name="TextBox 8" id="8"/>
          <p:cNvSpPr txBox="true"/>
          <p:nvPr/>
        </p:nvSpPr>
        <p:spPr>
          <a:xfrm rot="0">
            <a:off x="1028700" y="1028700"/>
            <a:ext cx="9913629" cy="906775"/>
          </a:xfrm>
          <a:prstGeom prst="rect">
            <a:avLst/>
          </a:prstGeom>
        </p:spPr>
        <p:txBody>
          <a:bodyPr anchor="t" rtlCol="false" tIns="0" lIns="0" bIns="0" rIns="0">
            <a:spAutoFit/>
          </a:bodyPr>
          <a:lstStyle/>
          <a:p>
            <a:pPr algn="l">
              <a:lnSpc>
                <a:spcPts val="7264"/>
              </a:lnSpc>
            </a:pPr>
            <a:r>
              <a:rPr lang="en-US" sz="6003" b="true">
                <a:solidFill>
                  <a:srgbClr val="A21616"/>
                </a:solidFill>
                <a:latin typeface="Montserrat Bold"/>
                <a:ea typeface="Montserrat Bold"/>
                <a:cs typeface="Montserrat Bold"/>
                <a:sym typeface="Montserrat Bold"/>
              </a:rPr>
              <a:t>Further Analysis: NIM</a:t>
            </a:r>
          </a:p>
        </p:txBody>
      </p:sp>
      <p:sp>
        <p:nvSpPr>
          <p:cNvPr name="TextBox 9" id="9"/>
          <p:cNvSpPr txBox="true"/>
          <p:nvPr/>
        </p:nvSpPr>
        <p:spPr>
          <a:xfrm rot="0">
            <a:off x="731740" y="2046047"/>
            <a:ext cx="10762338" cy="1695450"/>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Bold"/>
                <a:ea typeface="Montserrat Bold"/>
                <a:cs typeface="Montserrat Bold"/>
                <a:sym typeface="Montserrat Bold"/>
              </a:rPr>
              <a:t>NIM (Net Interest Margin)</a:t>
            </a:r>
            <a:r>
              <a:rPr lang="en-US" sz="2700" b="true">
                <a:solidFill>
                  <a:srgbClr val="000000"/>
                </a:solidFill>
                <a:latin typeface="Montserrat Medium"/>
                <a:ea typeface="Montserrat Medium"/>
                <a:cs typeface="Montserrat Medium"/>
                <a:sym typeface="Montserrat Medium"/>
              </a:rPr>
              <a:t> is an indicator that measures the difference between the interest income generated by the bank and the interest expenses ==&gt; </a:t>
            </a:r>
            <a:r>
              <a:rPr lang="en-US" sz="2700" b="true">
                <a:solidFill>
                  <a:srgbClr val="000000"/>
                </a:solidFill>
                <a:latin typeface="Montserrat Bold"/>
                <a:ea typeface="Montserrat Bold"/>
                <a:cs typeface="Montserrat Bold"/>
                <a:sym typeface="Montserrat Bold"/>
              </a:rPr>
              <a:t>A Profitability Metric!</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2558438" y="3024952"/>
            <a:ext cx="5978252" cy="8322392"/>
          </a:xfrm>
          <a:custGeom>
            <a:avLst/>
            <a:gdLst/>
            <a:ahLst/>
            <a:cxnLst/>
            <a:rect r="r" b="b" t="t" l="l"/>
            <a:pathLst>
              <a:path h="8322392" w="5978252">
                <a:moveTo>
                  <a:pt x="5978251" y="0"/>
                </a:moveTo>
                <a:lnTo>
                  <a:pt x="0" y="0"/>
                </a:lnTo>
                <a:lnTo>
                  <a:pt x="0" y="8322392"/>
                </a:lnTo>
                <a:lnTo>
                  <a:pt x="5978251" y="8322392"/>
                </a:lnTo>
                <a:lnTo>
                  <a:pt x="59782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34875" y="-1294649"/>
            <a:ext cx="7719135" cy="7748191"/>
          </a:xfrm>
          <a:custGeom>
            <a:avLst/>
            <a:gdLst/>
            <a:ahLst/>
            <a:cxnLst/>
            <a:rect r="r" b="b" t="t" l="l"/>
            <a:pathLst>
              <a:path h="7748191" w="7719135">
                <a:moveTo>
                  <a:pt x="0" y="0"/>
                </a:moveTo>
                <a:lnTo>
                  <a:pt x="7719135" y="0"/>
                </a:lnTo>
                <a:lnTo>
                  <a:pt x="7719135" y="7748191"/>
                </a:lnTo>
                <a:lnTo>
                  <a:pt x="0" y="7748191"/>
                </a:lnTo>
                <a:lnTo>
                  <a:pt x="0" y="0"/>
                </a:lnTo>
                <a:close/>
              </a:path>
            </a:pathLst>
          </a:custGeom>
          <a:blipFill>
            <a:blip r:embed="rId4"/>
            <a:stretch>
              <a:fillRect l="0" t="0" r="0" b="0"/>
            </a:stretch>
          </a:blipFill>
        </p:spPr>
      </p:sp>
      <p:grpSp>
        <p:nvGrpSpPr>
          <p:cNvPr name="Group 4" id="4"/>
          <p:cNvGrpSpPr/>
          <p:nvPr/>
        </p:nvGrpSpPr>
        <p:grpSpPr>
          <a:xfrm rot="0">
            <a:off x="12909478" y="-1105518"/>
            <a:ext cx="7369928" cy="736992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t="0" r="-25046" b="0"/>
              </a:stretch>
            </a:blipFill>
            <a:ln w="285750" cap="sq">
              <a:solidFill>
                <a:srgbClr val="FFFFFF"/>
              </a:solidFill>
              <a:prstDash val="solid"/>
              <a:miter/>
            </a:ln>
          </p:spPr>
        </p:sp>
      </p:grpSp>
      <p:sp>
        <p:nvSpPr>
          <p:cNvPr name="Freeform 6" id="6"/>
          <p:cNvSpPr/>
          <p:nvPr/>
        </p:nvSpPr>
        <p:spPr>
          <a:xfrm flipH="false" flipV="false" rot="0">
            <a:off x="12270263" y="6848163"/>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76951" y="4430498"/>
            <a:ext cx="10465378" cy="5856502"/>
          </a:xfrm>
          <a:custGeom>
            <a:avLst/>
            <a:gdLst/>
            <a:ahLst/>
            <a:cxnLst/>
            <a:rect r="r" b="b" t="t" l="l"/>
            <a:pathLst>
              <a:path h="5856502" w="10465378">
                <a:moveTo>
                  <a:pt x="0" y="0"/>
                </a:moveTo>
                <a:lnTo>
                  <a:pt x="10465378" y="0"/>
                </a:lnTo>
                <a:lnTo>
                  <a:pt x="10465378" y="5856502"/>
                </a:lnTo>
                <a:lnTo>
                  <a:pt x="0" y="5856502"/>
                </a:lnTo>
                <a:lnTo>
                  <a:pt x="0" y="0"/>
                </a:lnTo>
                <a:close/>
              </a:path>
            </a:pathLst>
          </a:custGeom>
          <a:blipFill>
            <a:blip r:embed="rId8"/>
            <a:stretch>
              <a:fillRect l="0" t="0" r="0" b="0"/>
            </a:stretch>
          </a:blipFill>
        </p:spPr>
      </p:sp>
      <p:sp>
        <p:nvSpPr>
          <p:cNvPr name="TextBox 8" id="8"/>
          <p:cNvSpPr txBox="true"/>
          <p:nvPr/>
        </p:nvSpPr>
        <p:spPr>
          <a:xfrm rot="0">
            <a:off x="1028700" y="1028700"/>
            <a:ext cx="9913629" cy="906775"/>
          </a:xfrm>
          <a:prstGeom prst="rect">
            <a:avLst/>
          </a:prstGeom>
        </p:spPr>
        <p:txBody>
          <a:bodyPr anchor="t" rtlCol="false" tIns="0" lIns="0" bIns="0" rIns="0">
            <a:spAutoFit/>
          </a:bodyPr>
          <a:lstStyle/>
          <a:p>
            <a:pPr algn="l">
              <a:lnSpc>
                <a:spcPts val="7264"/>
              </a:lnSpc>
            </a:pPr>
            <a:r>
              <a:rPr lang="en-US" sz="6003" b="true">
                <a:solidFill>
                  <a:srgbClr val="A21616"/>
                </a:solidFill>
                <a:latin typeface="Montserrat Bold"/>
                <a:ea typeface="Montserrat Bold"/>
                <a:cs typeface="Montserrat Bold"/>
                <a:sym typeface="Montserrat Bold"/>
              </a:rPr>
              <a:t>Further Analysis: NIM</a:t>
            </a:r>
          </a:p>
        </p:txBody>
      </p:sp>
      <p:sp>
        <p:nvSpPr>
          <p:cNvPr name="TextBox 9" id="9"/>
          <p:cNvSpPr txBox="true"/>
          <p:nvPr/>
        </p:nvSpPr>
        <p:spPr>
          <a:xfrm rot="0">
            <a:off x="731740" y="2046047"/>
            <a:ext cx="10762338" cy="2276475"/>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Medium"/>
                <a:ea typeface="Montserrat Medium"/>
                <a:cs typeface="Montserrat Medium"/>
                <a:sym typeface="Montserrat Medium"/>
              </a:rPr>
              <a:t>It is calculated through </a:t>
            </a:r>
            <a:r>
              <a:rPr lang="en-US" sz="2700" b="true">
                <a:solidFill>
                  <a:srgbClr val="000000"/>
                </a:solidFill>
                <a:latin typeface="Montserrat Bold"/>
                <a:ea typeface="Montserrat Bold"/>
                <a:cs typeface="Montserrat Bold"/>
                <a:sym typeface="Montserrat Bold"/>
              </a:rPr>
              <a:t>Net Interest Income</a:t>
            </a:r>
            <a:r>
              <a:rPr lang="en-US" sz="2700" b="true">
                <a:solidFill>
                  <a:srgbClr val="000000"/>
                </a:solidFill>
                <a:latin typeface="Montserrat Medium"/>
                <a:ea typeface="Montserrat Medium"/>
                <a:cs typeface="Montserrat Medium"/>
                <a:sym typeface="Montserrat Medium"/>
              </a:rPr>
              <a:t> divided by the total of </a:t>
            </a:r>
            <a:r>
              <a:rPr lang="en-US" sz="2700" b="true">
                <a:solidFill>
                  <a:srgbClr val="000000"/>
                </a:solidFill>
                <a:latin typeface="Montserrat Bold"/>
                <a:ea typeface="Montserrat Bold"/>
                <a:cs typeface="Montserrat Bold"/>
                <a:sym typeface="Montserrat Bold"/>
              </a:rPr>
              <a:t>Loans to Customers, Investment Securities</a:t>
            </a:r>
            <a:r>
              <a:rPr lang="en-US" sz="2700" b="true">
                <a:solidFill>
                  <a:srgbClr val="000000"/>
                </a:solidFill>
                <a:latin typeface="Montserrat Medium"/>
                <a:ea typeface="Montserrat Medium"/>
                <a:cs typeface="Montserrat Medium"/>
                <a:sym typeface="Montserrat Medium"/>
              </a:rPr>
              <a:t> and </a:t>
            </a:r>
            <a:r>
              <a:rPr lang="en-US" sz="2700" b="true">
                <a:solidFill>
                  <a:srgbClr val="000000"/>
                </a:solidFill>
                <a:latin typeface="Montserrat Bold"/>
                <a:ea typeface="Montserrat Bold"/>
                <a:cs typeface="Montserrat Bold"/>
                <a:sym typeface="Montserrat Bold"/>
              </a:rPr>
              <a:t>Trading Securities</a:t>
            </a:r>
            <a:r>
              <a:rPr lang="en-US" sz="2700" b="true">
                <a:solidFill>
                  <a:srgbClr val="000000"/>
                </a:solidFill>
                <a:latin typeface="Montserrat Medium"/>
                <a:ea typeface="Montserrat Medium"/>
                <a:cs typeface="Montserrat Medium"/>
                <a:sym typeface="Montserrat Medium"/>
              </a:rPr>
              <a:t>. The gauge also shows</a:t>
            </a:r>
            <a:r>
              <a:rPr lang="en-US" sz="2700" b="true">
                <a:solidFill>
                  <a:srgbClr val="000000"/>
                </a:solidFill>
                <a:latin typeface="Montserrat Bold"/>
                <a:ea typeface="Montserrat Bold"/>
                <a:cs typeface="Montserrat Bold"/>
                <a:sym typeface="Montserrat Bold"/>
              </a:rPr>
              <a:t> different health levels</a:t>
            </a:r>
            <a:r>
              <a:rPr lang="en-US" sz="2700" b="true">
                <a:solidFill>
                  <a:srgbClr val="000000"/>
                </a:solidFill>
                <a:latin typeface="Montserrat Medium"/>
                <a:ea typeface="Montserrat Medium"/>
                <a:cs typeface="Montserrat Medium"/>
                <a:sym typeface="Montserrat Medium"/>
              </a:rPr>
              <a: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2558438" y="3024952"/>
            <a:ext cx="5978252" cy="8322392"/>
          </a:xfrm>
          <a:custGeom>
            <a:avLst/>
            <a:gdLst/>
            <a:ahLst/>
            <a:cxnLst/>
            <a:rect r="r" b="b" t="t" l="l"/>
            <a:pathLst>
              <a:path h="8322392" w="5978252">
                <a:moveTo>
                  <a:pt x="5978251" y="0"/>
                </a:moveTo>
                <a:lnTo>
                  <a:pt x="0" y="0"/>
                </a:lnTo>
                <a:lnTo>
                  <a:pt x="0" y="8322392"/>
                </a:lnTo>
                <a:lnTo>
                  <a:pt x="5978251" y="8322392"/>
                </a:lnTo>
                <a:lnTo>
                  <a:pt x="59782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34875" y="-1294649"/>
            <a:ext cx="7719135" cy="7748191"/>
          </a:xfrm>
          <a:custGeom>
            <a:avLst/>
            <a:gdLst/>
            <a:ahLst/>
            <a:cxnLst/>
            <a:rect r="r" b="b" t="t" l="l"/>
            <a:pathLst>
              <a:path h="7748191" w="7719135">
                <a:moveTo>
                  <a:pt x="0" y="0"/>
                </a:moveTo>
                <a:lnTo>
                  <a:pt x="7719135" y="0"/>
                </a:lnTo>
                <a:lnTo>
                  <a:pt x="7719135" y="7748191"/>
                </a:lnTo>
                <a:lnTo>
                  <a:pt x="0" y="7748191"/>
                </a:lnTo>
                <a:lnTo>
                  <a:pt x="0" y="0"/>
                </a:lnTo>
                <a:close/>
              </a:path>
            </a:pathLst>
          </a:custGeom>
          <a:blipFill>
            <a:blip r:embed="rId4"/>
            <a:stretch>
              <a:fillRect l="0" t="0" r="0" b="0"/>
            </a:stretch>
          </a:blipFill>
        </p:spPr>
      </p:sp>
      <p:grpSp>
        <p:nvGrpSpPr>
          <p:cNvPr name="Group 4" id="4"/>
          <p:cNvGrpSpPr/>
          <p:nvPr/>
        </p:nvGrpSpPr>
        <p:grpSpPr>
          <a:xfrm rot="0">
            <a:off x="12909478" y="-1105518"/>
            <a:ext cx="7369928" cy="736992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t="0" r="-25046" b="0"/>
              </a:stretch>
            </a:blipFill>
            <a:ln w="285750" cap="sq">
              <a:solidFill>
                <a:srgbClr val="FFFFFF"/>
              </a:solidFill>
              <a:prstDash val="solid"/>
              <a:miter/>
            </a:ln>
          </p:spPr>
        </p:sp>
      </p:grpSp>
      <p:sp>
        <p:nvSpPr>
          <p:cNvPr name="Freeform 6" id="6"/>
          <p:cNvSpPr/>
          <p:nvPr/>
        </p:nvSpPr>
        <p:spPr>
          <a:xfrm flipH="false" flipV="false" rot="0">
            <a:off x="12270263" y="6848163"/>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7186148"/>
            <a:ext cx="5490286" cy="3100852"/>
          </a:xfrm>
          <a:custGeom>
            <a:avLst/>
            <a:gdLst/>
            <a:ahLst/>
            <a:cxnLst/>
            <a:rect r="r" b="b" t="t" l="l"/>
            <a:pathLst>
              <a:path h="3100852" w="5490286">
                <a:moveTo>
                  <a:pt x="0" y="0"/>
                </a:moveTo>
                <a:lnTo>
                  <a:pt x="5490286" y="0"/>
                </a:lnTo>
                <a:lnTo>
                  <a:pt x="5490286" y="3100852"/>
                </a:lnTo>
                <a:lnTo>
                  <a:pt x="0" y="3100852"/>
                </a:lnTo>
                <a:lnTo>
                  <a:pt x="0" y="0"/>
                </a:lnTo>
                <a:close/>
              </a:path>
            </a:pathLst>
          </a:custGeom>
          <a:blipFill>
            <a:blip r:embed="rId8"/>
            <a:stretch>
              <a:fillRect l="0" t="0" r="0" b="0"/>
            </a:stretch>
          </a:blipFill>
        </p:spPr>
      </p:sp>
      <p:sp>
        <p:nvSpPr>
          <p:cNvPr name="Freeform 8" id="8"/>
          <p:cNvSpPr/>
          <p:nvPr/>
        </p:nvSpPr>
        <p:spPr>
          <a:xfrm flipH="false" flipV="false" rot="0">
            <a:off x="5985514" y="7209629"/>
            <a:ext cx="5508563" cy="3139959"/>
          </a:xfrm>
          <a:custGeom>
            <a:avLst/>
            <a:gdLst/>
            <a:ahLst/>
            <a:cxnLst/>
            <a:rect r="r" b="b" t="t" l="l"/>
            <a:pathLst>
              <a:path h="3139959" w="5508563">
                <a:moveTo>
                  <a:pt x="0" y="0"/>
                </a:moveTo>
                <a:lnTo>
                  <a:pt x="5508564" y="0"/>
                </a:lnTo>
                <a:lnTo>
                  <a:pt x="5508564" y="3139959"/>
                </a:lnTo>
                <a:lnTo>
                  <a:pt x="0" y="3139959"/>
                </a:lnTo>
                <a:lnTo>
                  <a:pt x="0" y="0"/>
                </a:lnTo>
                <a:close/>
              </a:path>
            </a:pathLst>
          </a:custGeom>
          <a:blipFill>
            <a:blip r:embed="rId9"/>
            <a:stretch>
              <a:fillRect l="0" t="0" r="0" b="0"/>
            </a:stretch>
          </a:blipFill>
        </p:spPr>
      </p:sp>
      <p:sp>
        <p:nvSpPr>
          <p:cNvPr name="Freeform 9" id="9"/>
          <p:cNvSpPr/>
          <p:nvPr/>
        </p:nvSpPr>
        <p:spPr>
          <a:xfrm flipH="false" flipV="false" rot="0">
            <a:off x="3265182" y="4015868"/>
            <a:ext cx="5474613" cy="3046430"/>
          </a:xfrm>
          <a:custGeom>
            <a:avLst/>
            <a:gdLst/>
            <a:ahLst/>
            <a:cxnLst/>
            <a:rect r="r" b="b" t="t" l="l"/>
            <a:pathLst>
              <a:path h="3046430" w="5474613">
                <a:moveTo>
                  <a:pt x="0" y="0"/>
                </a:moveTo>
                <a:lnTo>
                  <a:pt x="5474614" y="0"/>
                </a:lnTo>
                <a:lnTo>
                  <a:pt x="5474614" y="3046430"/>
                </a:lnTo>
                <a:lnTo>
                  <a:pt x="0" y="3046430"/>
                </a:lnTo>
                <a:lnTo>
                  <a:pt x="0" y="0"/>
                </a:lnTo>
                <a:close/>
              </a:path>
            </a:pathLst>
          </a:custGeom>
          <a:blipFill>
            <a:blip r:embed="rId10"/>
            <a:stretch>
              <a:fillRect l="0" t="0" r="0" b="0"/>
            </a:stretch>
          </a:blipFill>
        </p:spPr>
      </p:sp>
      <p:sp>
        <p:nvSpPr>
          <p:cNvPr name="TextBox 10" id="10"/>
          <p:cNvSpPr txBox="true"/>
          <p:nvPr/>
        </p:nvSpPr>
        <p:spPr>
          <a:xfrm rot="0">
            <a:off x="1028700" y="1028700"/>
            <a:ext cx="9913629" cy="906775"/>
          </a:xfrm>
          <a:prstGeom prst="rect">
            <a:avLst/>
          </a:prstGeom>
        </p:spPr>
        <p:txBody>
          <a:bodyPr anchor="t" rtlCol="false" tIns="0" lIns="0" bIns="0" rIns="0">
            <a:spAutoFit/>
          </a:bodyPr>
          <a:lstStyle/>
          <a:p>
            <a:pPr algn="l">
              <a:lnSpc>
                <a:spcPts val="7264"/>
              </a:lnSpc>
            </a:pPr>
            <a:r>
              <a:rPr lang="en-US" sz="6003" b="true">
                <a:solidFill>
                  <a:srgbClr val="A21616"/>
                </a:solidFill>
                <a:latin typeface="Montserrat Bold"/>
                <a:ea typeface="Montserrat Bold"/>
                <a:cs typeface="Montserrat Bold"/>
                <a:sym typeface="Montserrat Bold"/>
              </a:rPr>
              <a:t>Further Analysis: NIM</a:t>
            </a:r>
          </a:p>
        </p:txBody>
      </p:sp>
      <p:sp>
        <p:nvSpPr>
          <p:cNvPr name="TextBox 11" id="11"/>
          <p:cNvSpPr txBox="true"/>
          <p:nvPr/>
        </p:nvSpPr>
        <p:spPr>
          <a:xfrm rot="0">
            <a:off x="731740" y="2046047"/>
            <a:ext cx="10762338" cy="1114425"/>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Medium"/>
                <a:ea typeface="Montserrat Medium"/>
                <a:cs typeface="Montserrat Medium"/>
                <a:sym typeface="Montserrat Medium"/>
              </a:rPr>
              <a:t>A healthy </a:t>
            </a:r>
            <a:r>
              <a:rPr lang="en-US" sz="2700" b="true">
                <a:solidFill>
                  <a:srgbClr val="27AE46"/>
                </a:solidFill>
                <a:latin typeface="Montserrat Bold"/>
                <a:ea typeface="Montserrat Bold"/>
                <a:cs typeface="Montserrat Bold"/>
                <a:sym typeface="Montserrat Bold"/>
              </a:rPr>
              <a:t>green </a:t>
            </a:r>
            <a:r>
              <a:rPr lang="en-US" sz="2700" b="true">
                <a:solidFill>
                  <a:srgbClr val="000000"/>
                </a:solidFill>
                <a:latin typeface="Montserrat Medium"/>
                <a:ea typeface="Montserrat Medium"/>
                <a:cs typeface="Montserrat Medium"/>
                <a:sym typeface="Montserrat Medium"/>
              </a:rPr>
              <a:t>one would be above 4.5%. Average and below that level is </a:t>
            </a:r>
            <a:r>
              <a:rPr lang="en-US" sz="2700" b="true">
                <a:solidFill>
                  <a:srgbClr val="E0C133"/>
                </a:solidFill>
                <a:latin typeface="Montserrat Bold"/>
                <a:ea typeface="Montserrat Bold"/>
                <a:cs typeface="Montserrat Bold"/>
                <a:sym typeface="Montserrat Bold"/>
              </a:rPr>
              <a:t>yellow </a:t>
            </a:r>
            <a:r>
              <a:rPr lang="en-US" sz="2700" b="true">
                <a:solidFill>
                  <a:srgbClr val="000000"/>
                </a:solidFill>
                <a:latin typeface="Montserrat Medium"/>
                <a:ea typeface="Montserrat Medium"/>
                <a:cs typeface="Montserrat Medium"/>
                <a:sym typeface="Montserrat Medium"/>
              </a:rPr>
              <a:t>whereas </a:t>
            </a:r>
            <a:r>
              <a:rPr lang="en-US" sz="2700" b="true">
                <a:solidFill>
                  <a:srgbClr val="E90F1E"/>
                </a:solidFill>
                <a:latin typeface="Montserrat Bold"/>
                <a:ea typeface="Montserrat Bold"/>
                <a:cs typeface="Montserrat Bold"/>
                <a:sym typeface="Montserrat Bold"/>
              </a:rPr>
              <a:t>red </a:t>
            </a:r>
            <a:r>
              <a:rPr lang="en-US" sz="2700" b="true">
                <a:solidFill>
                  <a:srgbClr val="000000"/>
                </a:solidFill>
                <a:latin typeface="Montserrat Medium"/>
                <a:ea typeface="Montserrat Medium"/>
                <a:cs typeface="Montserrat Medium"/>
                <a:sym typeface="Montserrat Medium"/>
              </a:rPr>
              <a:t>is very low!</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2558438" y="3024952"/>
            <a:ext cx="5978252" cy="8322392"/>
          </a:xfrm>
          <a:custGeom>
            <a:avLst/>
            <a:gdLst/>
            <a:ahLst/>
            <a:cxnLst/>
            <a:rect r="r" b="b" t="t" l="l"/>
            <a:pathLst>
              <a:path h="8322392" w="5978252">
                <a:moveTo>
                  <a:pt x="5978251" y="0"/>
                </a:moveTo>
                <a:lnTo>
                  <a:pt x="0" y="0"/>
                </a:lnTo>
                <a:lnTo>
                  <a:pt x="0" y="8322392"/>
                </a:lnTo>
                <a:lnTo>
                  <a:pt x="5978251" y="8322392"/>
                </a:lnTo>
                <a:lnTo>
                  <a:pt x="59782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34875" y="-1294649"/>
            <a:ext cx="7719135" cy="7748191"/>
          </a:xfrm>
          <a:custGeom>
            <a:avLst/>
            <a:gdLst/>
            <a:ahLst/>
            <a:cxnLst/>
            <a:rect r="r" b="b" t="t" l="l"/>
            <a:pathLst>
              <a:path h="7748191" w="7719135">
                <a:moveTo>
                  <a:pt x="0" y="0"/>
                </a:moveTo>
                <a:lnTo>
                  <a:pt x="7719135" y="0"/>
                </a:lnTo>
                <a:lnTo>
                  <a:pt x="7719135" y="7748191"/>
                </a:lnTo>
                <a:lnTo>
                  <a:pt x="0" y="7748191"/>
                </a:lnTo>
                <a:lnTo>
                  <a:pt x="0" y="0"/>
                </a:lnTo>
                <a:close/>
              </a:path>
            </a:pathLst>
          </a:custGeom>
          <a:blipFill>
            <a:blip r:embed="rId4"/>
            <a:stretch>
              <a:fillRect l="0" t="0" r="0" b="0"/>
            </a:stretch>
          </a:blipFill>
        </p:spPr>
      </p:sp>
      <p:grpSp>
        <p:nvGrpSpPr>
          <p:cNvPr name="Group 4" id="4"/>
          <p:cNvGrpSpPr/>
          <p:nvPr/>
        </p:nvGrpSpPr>
        <p:grpSpPr>
          <a:xfrm rot="0">
            <a:off x="12909478" y="-1105518"/>
            <a:ext cx="7369928" cy="736992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t="0" r="-25046" b="0"/>
              </a:stretch>
            </a:blipFill>
            <a:ln w="285750" cap="sq">
              <a:solidFill>
                <a:srgbClr val="FFFFFF"/>
              </a:solidFill>
              <a:prstDash val="solid"/>
              <a:miter/>
            </a:ln>
          </p:spPr>
        </p:sp>
      </p:grpSp>
      <p:sp>
        <p:nvSpPr>
          <p:cNvPr name="Freeform 6" id="6"/>
          <p:cNvSpPr/>
          <p:nvPr/>
        </p:nvSpPr>
        <p:spPr>
          <a:xfrm flipH="false" flipV="false" rot="0">
            <a:off x="12270263" y="6848163"/>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3979622"/>
            <a:ext cx="10355338" cy="6077746"/>
          </a:xfrm>
          <a:custGeom>
            <a:avLst/>
            <a:gdLst/>
            <a:ahLst/>
            <a:cxnLst/>
            <a:rect r="r" b="b" t="t" l="l"/>
            <a:pathLst>
              <a:path h="6077746" w="10355338">
                <a:moveTo>
                  <a:pt x="0" y="0"/>
                </a:moveTo>
                <a:lnTo>
                  <a:pt x="10355338" y="0"/>
                </a:lnTo>
                <a:lnTo>
                  <a:pt x="10355338" y="6077745"/>
                </a:lnTo>
                <a:lnTo>
                  <a:pt x="0" y="6077745"/>
                </a:lnTo>
                <a:lnTo>
                  <a:pt x="0" y="0"/>
                </a:lnTo>
                <a:close/>
              </a:path>
            </a:pathLst>
          </a:custGeom>
          <a:blipFill>
            <a:blip r:embed="rId8"/>
            <a:stretch>
              <a:fillRect l="0" t="0" r="0" b="0"/>
            </a:stretch>
          </a:blipFill>
        </p:spPr>
      </p:sp>
      <p:sp>
        <p:nvSpPr>
          <p:cNvPr name="TextBox 8" id="8"/>
          <p:cNvSpPr txBox="true"/>
          <p:nvPr/>
        </p:nvSpPr>
        <p:spPr>
          <a:xfrm rot="0">
            <a:off x="1028700" y="1028700"/>
            <a:ext cx="12519993" cy="906775"/>
          </a:xfrm>
          <a:prstGeom prst="rect">
            <a:avLst/>
          </a:prstGeom>
        </p:spPr>
        <p:txBody>
          <a:bodyPr anchor="t" rtlCol="false" tIns="0" lIns="0" bIns="0" rIns="0">
            <a:spAutoFit/>
          </a:bodyPr>
          <a:lstStyle/>
          <a:p>
            <a:pPr algn="l">
              <a:lnSpc>
                <a:spcPts val="7264"/>
              </a:lnSpc>
            </a:pPr>
            <a:r>
              <a:rPr lang="en-US" sz="6003" b="true">
                <a:solidFill>
                  <a:srgbClr val="A21616"/>
                </a:solidFill>
                <a:latin typeface="Montserrat Bold"/>
                <a:ea typeface="Montserrat Bold"/>
                <a:cs typeface="Montserrat Bold"/>
                <a:sym typeface="Montserrat Bold"/>
              </a:rPr>
              <a:t>Further Analysis: Correlation</a:t>
            </a:r>
          </a:p>
        </p:txBody>
      </p:sp>
      <p:sp>
        <p:nvSpPr>
          <p:cNvPr name="TextBox 9" id="9"/>
          <p:cNvSpPr txBox="true"/>
          <p:nvPr/>
        </p:nvSpPr>
        <p:spPr>
          <a:xfrm rot="0">
            <a:off x="731740" y="2046047"/>
            <a:ext cx="10762338" cy="1695450"/>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Bold"/>
                <a:ea typeface="Montserrat Bold"/>
                <a:cs typeface="Montserrat Bold"/>
                <a:sym typeface="Montserrat Bold"/>
              </a:rPr>
              <a:t>Correlation </a:t>
            </a:r>
            <a:r>
              <a:rPr lang="en-US" sz="2700" b="true">
                <a:solidFill>
                  <a:srgbClr val="000000"/>
                </a:solidFill>
                <a:latin typeface="Montserrat Medium"/>
                <a:ea typeface="Montserrat Medium"/>
                <a:cs typeface="Montserrat Medium"/>
                <a:sym typeface="Montserrat Medium"/>
              </a:rPr>
              <a:t>is the strenth and direction to which the </a:t>
            </a:r>
            <a:r>
              <a:rPr lang="en-US" sz="2700" b="true">
                <a:solidFill>
                  <a:srgbClr val="000000"/>
                </a:solidFill>
                <a:latin typeface="Montserrat Bold"/>
                <a:ea typeface="Montserrat Bold"/>
                <a:cs typeface="Montserrat Bold"/>
                <a:sym typeface="Montserrat Bold"/>
              </a:rPr>
              <a:t>variables </a:t>
            </a:r>
            <a:r>
              <a:rPr lang="en-US" sz="2700" b="true">
                <a:solidFill>
                  <a:srgbClr val="000000"/>
                </a:solidFill>
                <a:latin typeface="Montserrat Medium"/>
                <a:ea typeface="Montserrat Medium"/>
                <a:cs typeface="Montserrat Medium"/>
                <a:sym typeface="Montserrat Medium"/>
              </a:rPr>
              <a:t>are both moving. In other words, it is the </a:t>
            </a:r>
            <a:r>
              <a:rPr lang="en-US" sz="2700" b="true">
                <a:solidFill>
                  <a:srgbClr val="000000"/>
                </a:solidFill>
                <a:latin typeface="Montserrat Bold"/>
                <a:ea typeface="Montserrat Bold"/>
                <a:cs typeface="Montserrat Bold"/>
                <a:sym typeface="Montserrat Bold"/>
              </a:rPr>
              <a:t>relationship </a:t>
            </a:r>
            <a:r>
              <a:rPr lang="en-US" sz="2700" b="true">
                <a:solidFill>
                  <a:srgbClr val="000000"/>
                </a:solidFill>
                <a:latin typeface="Montserrat Medium"/>
                <a:ea typeface="Montserrat Medium"/>
                <a:cs typeface="Montserrat Medium"/>
                <a:sym typeface="Montserrat Medium"/>
              </a:rPr>
              <a:t>they have which is either </a:t>
            </a:r>
            <a:r>
              <a:rPr lang="en-US" sz="2700" b="true">
                <a:solidFill>
                  <a:srgbClr val="000000"/>
                </a:solidFill>
                <a:latin typeface="Montserrat Bold"/>
                <a:ea typeface="Montserrat Bold"/>
                <a:cs typeface="Montserrat Bold"/>
                <a:sym typeface="Montserrat Bold"/>
              </a:rPr>
              <a:t>negative </a:t>
            </a:r>
            <a:r>
              <a:rPr lang="en-US" sz="2700" b="true">
                <a:solidFill>
                  <a:srgbClr val="000000"/>
                </a:solidFill>
                <a:latin typeface="Montserrat Medium"/>
                <a:ea typeface="Montserrat Medium"/>
                <a:cs typeface="Montserrat Medium"/>
                <a:sym typeface="Montserrat Medium"/>
              </a:rPr>
              <a:t>or </a:t>
            </a:r>
            <a:r>
              <a:rPr lang="en-US" sz="2700" b="true">
                <a:solidFill>
                  <a:srgbClr val="000000"/>
                </a:solidFill>
                <a:latin typeface="Montserrat Bold"/>
                <a:ea typeface="Montserrat Bold"/>
                <a:cs typeface="Montserrat Bold"/>
                <a:sym typeface="Montserrat Bold"/>
              </a:rPr>
              <a:t>positive</a:t>
            </a:r>
            <a:r>
              <a:rPr lang="en-US" sz="2700" b="true">
                <a:solidFill>
                  <a:srgbClr val="000000"/>
                </a:solidFill>
                <a:latin typeface="Montserrat Medium"/>
                <a:ea typeface="Montserrat Medium"/>
                <a:cs typeface="Montserrat Medium"/>
                <a:sym typeface="Montserrat Medium"/>
              </a:rPr>
              <a:t>!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2558438" y="3024952"/>
            <a:ext cx="5978252" cy="8322392"/>
          </a:xfrm>
          <a:custGeom>
            <a:avLst/>
            <a:gdLst/>
            <a:ahLst/>
            <a:cxnLst/>
            <a:rect r="r" b="b" t="t" l="l"/>
            <a:pathLst>
              <a:path h="8322392" w="5978252">
                <a:moveTo>
                  <a:pt x="5978251" y="0"/>
                </a:moveTo>
                <a:lnTo>
                  <a:pt x="0" y="0"/>
                </a:lnTo>
                <a:lnTo>
                  <a:pt x="0" y="8322392"/>
                </a:lnTo>
                <a:lnTo>
                  <a:pt x="5978251" y="8322392"/>
                </a:lnTo>
                <a:lnTo>
                  <a:pt x="59782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34875" y="-1294649"/>
            <a:ext cx="7719135" cy="7748191"/>
          </a:xfrm>
          <a:custGeom>
            <a:avLst/>
            <a:gdLst/>
            <a:ahLst/>
            <a:cxnLst/>
            <a:rect r="r" b="b" t="t" l="l"/>
            <a:pathLst>
              <a:path h="7748191" w="7719135">
                <a:moveTo>
                  <a:pt x="0" y="0"/>
                </a:moveTo>
                <a:lnTo>
                  <a:pt x="7719135" y="0"/>
                </a:lnTo>
                <a:lnTo>
                  <a:pt x="7719135" y="7748191"/>
                </a:lnTo>
                <a:lnTo>
                  <a:pt x="0" y="7748191"/>
                </a:lnTo>
                <a:lnTo>
                  <a:pt x="0" y="0"/>
                </a:lnTo>
                <a:close/>
              </a:path>
            </a:pathLst>
          </a:custGeom>
          <a:blipFill>
            <a:blip r:embed="rId4"/>
            <a:stretch>
              <a:fillRect l="0" t="0" r="0" b="0"/>
            </a:stretch>
          </a:blipFill>
        </p:spPr>
      </p:sp>
      <p:grpSp>
        <p:nvGrpSpPr>
          <p:cNvPr name="Group 4" id="4"/>
          <p:cNvGrpSpPr/>
          <p:nvPr/>
        </p:nvGrpSpPr>
        <p:grpSpPr>
          <a:xfrm rot="0">
            <a:off x="12909478" y="-1105518"/>
            <a:ext cx="7369928" cy="736992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t="0" r="-25046" b="0"/>
              </a:stretch>
            </a:blipFill>
            <a:ln w="285750" cap="sq">
              <a:solidFill>
                <a:srgbClr val="FFFFFF"/>
              </a:solidFill>
              <a:prstDash val="solid"/>
              <a:miter/>
            </a:ln>
          </p:spPr>
        </p:sp>
      </p:grpSp>
      <p:sp>
        <p:nvSpPr>
          <p:cNvPr name="Freeform 6" id="6"/>
          <p:cNvSpPr/>
          <p:nvPr/>
        </p:nvSpPr>
        <p:spPr>
          <a:xfrm flipH="false" flipV="false" rot="0">
            <a:off x="12270263" y="6848163"/>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3979622"/>
            <a:ext cx="10355338" cy="6077746"/>
          </a:xfrm>
          <a:custGeom>
            <a:avLst/>
            <a:gdLst/>
            <a:ahLst/>
            <a:cxnLst/>
            <a:rect r="r" b="b" t="t" l="l"/>
            <a:pathLst>
              <a:path h="6077746" w="10355338">
                <a:moveTo>
                  <a:pt x="0" y="0"/>
                </a:moveTo>
                <a:lnTo>
                  <a:pt x="10355338" y="0"/>
                </a:lnTo>
                <a:lnTo>
                  <a:pt x="10355338" y="6077745"/>
                </a:lnTo>
                <a:lnTo>
                  <a:pt x="0" y="6077745"/>
                </a:lnTo>
                <a:lnTo>
                  <a:pt x="0" y="0"/>
                </a:lnTo>
                <a:close/>
              </a:path>
            </a:pathLst>
          </a:custGeom>
          <a:blipFill>
            <a:blip r:embed="rId8"/>
            <a:stretch>
              <a:fillRect l="0" t="0" r="0" b="0"/>
            </a:stretch>
          </a:blipFill>
        </p:spPr>
      </p:sp>
      <p:sp>
        <p:nvSpPr>
          <p:cNvPr name="TextBox 8" id="8"/>
          <p:cNvSpPr txBox="true"/>
          <p:nvPr/>
        </p:nvSpPr>
        <p:spPr>
          <a:xfrm rot="0">
            <a:off x="1028700" y="1028700"/>
            <a:ext cx="12519993" cy="906775"/>
          </a:xfrm>
          <a:prstGeom prst="rect">
            <a:avLst/>
          </a:prstGeom>
        </p:spPr>
        <p:txBody>
          <a:bodyPr anchor="t" rtlCol="false" tIns="0" lIns="0" bIns="0" rIns="0">
            <a:spAutoFit/>
          </a:bodyPr>
          <a:lstStyle/>
          <a:p>
            <a:pPr algn="l">
              <a:lnSpc>
                <a:spcPts val="7264"/>
              </a:lnSpc>
            </a:pPr>
            <a:r>
              <a:rPr lang="en-US" sz="6003" b="true">
                <a:solidFill>
                  <a:srgbClr val="A21616"/>
                </a:solidFill>
                <a:latin typeface="Montserrat Bold"/>
                <a:ea typeface="Montserrat Bold"/>
                <a:cs typeface="Montserrat Bold"/>
                <a:sym typeface="Montserrat Bold"/>
              </a:rPr>
              <a:t>Further Analysis: Correlation</a:t>
            </a:r>
          </a:p>
        </p:txBody>
      </p:sp>
      <p:sp>
        <p:nvSpPr>
          <p:cNvPr name="TextBox 9" id="9"/>
          <p:cNvSpPr txBox="true"/>
          <p:nvPr/>
        </p:nvSpPr>
        <p:spPr>
          <a:xfrm rot="0">
            <a:off x="731740" y="2046047"/>
            <a:ext cx="10762338" cy="1695450"/>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Medium"/>
                <a:ea typeface="Montserrat Medium"/>
                <a:cs typeface="Montserrat Medium"/>
                <a:sym typeface="Montserrat Medium"/>
              </a:rPr>
              <a:t>Here, the dashboard shows the correlation or relationship between CIR and NIM over the years showing </a:t>
            </a:r>
            <a:r>
              <a:rPr lang="en-US" sz="2700" b="true">
                <a:solidFill>
                  <a:srgbClr val="000000"/>
                </a:solidFill>
                <a:latin typeface="Montserrat Bold"/>
                <a:ea typeface="Montserrat Bold"/>
                <a:cs typeface="Montserrat Bold"/>
                <a:sym typeface="Montserrat Bold"/>
              </a:rPr>
              <a:t>Efficiency</a:t>
            </a:r>
            <a:r>
              <a:rPr lang="en-US" sz="2700" b="true">
                <a:solidFill>
                  <a:srgbClr val="000000"/>
                </a:solidFill>
                <a:latin typeface="Montserrat Medium"/>
                <a:ea typeface="Montserrat Medium"/>
                <a:cs typeface="Montserrat Medium"/>
                <a:sym typeface="Montserrat Medium"/>
              </a:rPr>
              <a:t> </a:t>
            </a:r>
            <a:r>
              <a:rPr lang="en-US" sz="2700" b="true">
                <a:solidFill>
                  <a:srgbClr val="000000"/>
                </a:solidFill>
                <a:latin typeface="Montserrat Bold"/>
                <a:ea typeface="Montserrat Bold"/>
                <a:cs typeface="Montserrat Bold"/>
                <a:sym typeface="Montserrat Bold"/>
              </a:rPr>
              <a:t>versus Profitability!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8096" y="0"/>
            <a:ext cx="18486096" cy="3086100"/>
            <a:chOff x="0" y="0"/>
            <a:chExt cx="4868766" cy="812800"/>
          </a:xfrm>
        </p:grpSpPr>
        <p:sp>
          <p:nvSpPr>
            <p:cNvPr name="Freeform 3" id="3"/>
            <p:cNvSpPr/>
            <p:nvPr/>
          </p:nvSpPr>
          <p:spPr>
            <a:xfrm flipH="false" flipV="false" rot="0">
              <a:off x="0" y="0"/>
              <a:ext cx="4868766" cy="812800"/>
            </a:xfrm>
            <a:custGeom>
              <a:avLst/>
              <a:gdLst/>
              <a:ahLst/>
              <a:cxnLst/>
              <a:rect r="r" b="b" t="t" l="l"/>
              <a:pathLst>
                <a:path h="812800" w="4868766">
                  <a:moveTo>
                    <a:pt x="0" y="0"/>
                  </a:moveTo>
                  <a:lnTo>
                    <a:pt x="4868766" y="0"/>
                  </a:lnTo>
                  <a:lnTo>
                    <a:pt x="4868766" y="812800"/>
                  </a:lnTo>
                  <a:lnTo>
                    <a:pt x="0" y="812800"/>
                  </a:lnTo>
                  <a:close/>
                </a:path>
              </a:pathLst>
            </a:custGeom>
            <a:solidFill>
              <a:srgbClr val="7C0F0F"/>
            </a:solidFill>
          </p:spPr>
        </p:sp>
        <p:sp>
          <p:nvSpPr>
            <p:cNvPr name="TextBox 4" id="4"/>
            <p:cNvSpPr txBox="true"/>
            <p:nvPr/>
          </p:nvSpPr>
          <p:spPr>
            <a:xfrm>
              <a:off x="0" y="-114300"/>
              <a:ext cx="4868766" cy="927100"/>
            </a:xfrm>
            <a:prstGeom prst="rect">
              <a:avLst/>
            </a:prstGeom>
          </p:spPr>
          <p:txBody>
            <a:bodyPr anchor="ctr" rtlCol="false" tIns="50800" lIns="50800" bIns="50800" rIns="50800"/>
            <a:lstStyle/>
            <a:p>
              <a:pPr algn="ctr">
                <a:lnSpc>
                  <a:spcPts val="4168"/>
                </a:lnSpc>
              </a:pPr>
            </a:p>
          </p:txBody>
        </p:sp>
      </p:grpSp>
      <p:sp>
        <p:nvSpPr>
          <p:cNvPr name="Freeform 5" id="5"/>
          <p:cNvSpPr/>
          <p:nvPr/>
        </p:nvSpPr>
        <p:spPr>
          <a:xfrm flipH="false" flipV="false" rot="0">
            <a:off x="11010959" y="-281812"/>
            <a:ext cx="8079417" cy="11049154"/>
          </a:xfrm>
          <a:custGeom>
            <a:avLst/>
            <a:gdLst/>
            <a:ahLst/>
            <a:cxnLst/>
            <a:rect r="r" b="b" t="t" l="l"/>
            <a:pathLst>
              <a:path h="11049154" w="8079417">
                <a:moveTo>
                  <a:pt x="0" y="0"/>
                </a:moveTo>
                <a:lnTo>
                  <a:pt x="8079417" y="0"/>
                </a:lnTo>
                <a:lnTo>
                  <a:pt x="8079417" y="11049154"/>
                </a:lnTo>
                <a:lnTo>
                  <a:pt x="0" y="11049154"/>
                </a:lnTo>
                <a:lnTo>
                  <a:pt x="0" y="0"/>
                </a:lnTo>
                <a:close/>
              </a:path>
            </a:pathLst>
          </a:custGeom>
          <a:blipFill>
            <a:blip r:embed="rId2"/>
            <a:stretch>
              <a:fillRect l="-32353" t="0" r="-72525" b="0"/>
            </a:stretch>
          </a:blipFill>
        </p:spPr>
      </p:sp>
      <p:sp>
        <p:nvSpPr>
          <p:cNvPr name="TextBox 6" id="6"/>
          <p:cNvSpPr txBox="true"/>
          <p:nvPr/>
        </p:nvSpPr>
        <p:spPr>
          <a:xfrm rot="0">
            <a:off x="860865" y="1338971"/>
            <a:ext cx="6959632" cy="991871"/>
          </a:xfrm>
          <a:prstGeom prst="rect">
            <a:avLst/>
          </a:prstGeom>
        </p:spPr>
        <p:txBody>
          <a:bodyPr anchor="t" rtlCol="false" tIns="0" lIns="0" bIns="0" rIns="0">
            <a:spAutoFit/>
          </a:bodyPr>
          <a:lstStyle/>
          <a:p>
            <a:pPr algn="l">
              <a:lnSpc>
                <a:spcPts val="7863"/>
              </a:lnSpc>
            </a:pPr>
            <a:r>
              <a:rPr lang="en-US" sz="6498" b="true">
                <a:solidFill>
                  <a:srgbClr val="FFFFFF"/>
                </a:solidFill>
                <a:latin typeface="Montserrat Bold"/>
                <a:ea typeface="Montserrat Bold"/>
                <a:cs typeface="Montserrat Bold"/>
                <a:sym typeface="Montserrat Bold"/>
              </a:rPr>
              <a:t>In conclusion,</a:t>
            </a:r>
          </a:p>
        </p:txBody>
      </p:sp>
      <p:sp>
        <p:nvSpPr>
          <p:cNvPr name="TextBox 7" id="7"/>
          <p:cNvSpPr txBox="true"/>
          <p:nvPr/>
        </p:nvSpPr>
        <p:spPr>
          <a:xfrm rot="0">
            <a:off x="1140910" y="7756737"/>
            <a:ext cx="2590387" cy="446732"/>
          </a:xfrm>
          <a:prstGeom prst="rect">
            <a:avLst/>
          </a:prstGeom>
        </p:spPr>
        <p:txBody>
          <a:bodyPr anchor="t" rtlCol="false" tIns="0" lIns="0" bIns="0" rIns="0">
            <a:spAutoFit/>
          </a:bodyPr>
          <a:lstStyle/>
          <a:p>
            <a:pPr algn="l">
              <a:lnSpc>
                <a:spcPts val="3888"/>
              </a:lnSpc>
            </a:pPr>
            <a:r>
              <a:rPr lang="en-US" sz="2287" spc="228" b="true">
                <a:solidFill>
                  <a:srgbClr val="FFFFFF"/>
                </a:solidFill>
                <a:latin typeface="Montserrat Bold"/>
                <a:ea typeface="Montserrat Bold"/>
                <a:cs typeface="Montserrat Bold"/>
                <a:sym typeface="Montserrat Bold"/>
              </a:rPr>
              <a:t>Point 1</a:t>
            </a:r>
          </a:p>
        </p:txBody>
      </p:sp>
      <p:sp>
        <p:nvSpPr>
          <p:cNvPr name="TextBox 8" id="8"/>
          <p:cNvSpPr txBox="true"/>
          <p:nvPr/>
        </p:nvSpPr>
        <p:spPr>
          <a:xfrm rot="0">
            <a:off x="7820497" y="7756737"/>
            <a:ext cx="2590387" cy="446732"/>
          </a:xfrm>
          <a:prstGeom prst="rect">
            <a:avLst/>
          </a:prstGeom>
        </p:spPr>
        <p:txBody>
          <a:bodyPr anchor="t" rtlCol="false" tIns="0" lIns="0" bIns="0" rIns="0">
            <a:spAutoFit/>
          </a:bodyPr>
          <a:lstStyle/>
          <a:p>
            <a:pPr algn="l">
              <a:lnSpc>
                <a:spcPts val="3888"/>
              </a:lnSpc>
            </a:pPr>
            <a:r>
              <a:rPr lang="en-US" sz="2287" spc="228" b="true">
                <a:solidFill>
                  <a:srgbClr val="FFFFFF"/>
                </a:solidFill>
                <a:latin typeface="Montserrat Bold"/>
                <a:ea typeface="Montserrat Bold"/>
                <a:cs typeface="Montserrat Bold"/>
                <a:sym typeface="Montserrat Bold"/>
              </a:rPr>
              <a:t>Point 2</a:t>
            </a:r>
          </a:p>
        </p:txBody>
      </p:sp>
      <p:sp>
        <p:nvSpPr>
          <p:cNvPr name="Freeform 9" id="9"/>
          <p:cNvSpPr/>
          <p:nvPr/>
        </p:nvSpPr>
        <p:spPr>
          <a:xfrm flipH="false" flipV="false" rot="0">
            <a:off x="8259130" y="1348496"/>
            <a:ext cx="1121996" cy="593255"/>
          </a:xfrm>
          <a:custGeom>
            <a:avLst/>
            <a:gdLst/>
            <a:ahLst/>
            <a:cxnLst/>
            <a:rect r="r" b="b" t="t" l="l"/>
            <a:pathLst>
              <a:path h="593255" w="1121996">
                <a:moveTo>
                  <a:pt x="0" y="0"/>
                </a:moveTo>
                <a:lnTo>
                  <a:pt x="1121996" y="0"/>
                </a:lnTo>
                <a:lnTo>
                  <a:pt x="1121996" y="593256"/>
                </a:lnTo>
                <a:lnTo>
                  <a:pt x="0" y="593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662566">
            <a:off x="11318201" y="-9476830"/>
            <a:ext cx="8139308" cy="12355686"/>
          </a:xfrm>
          <a:custGeom>
            <a:avLst/>
            <a:gdLst/>
            <a:ahLst/>
            <a:cxnLst/>
            <a:rect r="r" b="b" t="t" l="l"/>
            <a:pathLst>
              <a:path h="12355686" w="8139308">
                <a:moveTo>
                  <a:pt x="8139308" y="0"/>
                </a:moveTo>
                <a:lnTo>
                  <a:pt x="0" y="0"/>
                </a:lnTo>
                <a:lnTo>
                  <a:pt x="0" y="12355686"/>
                </a:lnTo>
                <a:lnTo>
                  <a:pt x="8139308" y="12355686"/>
                </a:lnTo>
                <a:lnTo>
                  <a:pt x="813930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true" flipV="false" rot="963434">
            <a:off x="14218346" y="3627736"/>
            <a:ext cx="8139308" cy="12355686"/>
          </a:xfrm>
          <a:custGeom>
            <a:avLst/>
            <a:gdLst/>
            <a:ahLst/>
            <a:cxnLst/>
            <a:rect r="r" b="b" t="t" l="l"/>
            <a:pathLst>
              <a:path h="12355686" w="8139308">
                <a:moveTo>
                  <a:pt x="8139308" y="0"/>
                </a:moveTo>
                <a:lnTo>
                  <a:pt x="0" y="0"/>
                </a:lnTo>
                <a:lnTo>
                  <a:pt x="0" y="12355687"/>
                </a:lnTo>
                <a:lnTo>
                  <a:pt x="8139308" y="12355687"/>
                </a:lnTo>
                <a:lnTo>
                  <a:pt x="813930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248621" y="3253111"/>
            <a:ext cx="10162263" cy="5181600"/>
          </a:xfrm>
          <a:prstGeom prst="rect">
            <a:avLst/>
          </a:prstGeom>
        </p:spPr>
        <p:txBody>
          <a:bodyPr anchor="t" rtlCol="false" tIns="0" lIns="0" bIns="0" rIns="0">
            <a:spAutoFit/>
          </a:bodyPr>
          <a:lstStyle/>
          <a:p>
            <a:pPr algn="just">
              <a:lnSpc>
                <a:spcPts val="4590"/>
              </a:lnSpc>
            </a:pPr>
            <a:r>
              <a:rPr lang="en-US" sz="2700" b="true">
                <a:solidFill>
                  <a:srgbClr val="000000"/>
                </a:solidFill>
                <a:latin typeface="Montserrat Medium"/>
                <a:ea typeface="Montserrat Medium"/>
                <a:cs typeface="Montserrat Medium"/>
                <a:sym typeface="Montserrat Medium"/>
              </a:rPr>
              <a:t>The purpose of this dashboard is to show the perfomance of TCB on a financial basic which every viewer can understand. It covers all aspect of a bank (revenue, cost and profit) including a time component which the user can analyze the growth of business </a:t>
            </a:r>
          </a:p>
          <a:p>
            <a:pPr algn="just">
              <a:lnSpc>
                <a:spcPts val="4590"/>
              </a:lnSpc>
            </a:pPr>
            <a:r>
              <a:rPr lang="en-US" sz="2700" b="true">
                <a:solidFill>
                  <a:srgbClr val="000000"/>
                </a:solidFill>
                <a:latin typeface="Montserrat Bold"/>
                <a:ea typeface="Montserrat Bold"/>
                <a:cs typeface="Montserrat Bold"/>
                <a:sym typeface="Montserrat Bold"/>
              </a:rPr>
              <a:t>==&gt; Simple but crucial indicators</a:t>
            </a:r>
          </a:p>
          <a:p>
            <a:pPr algn="just">
              <a:lnSpc>
                <a:spcPts val="4590"/>
              </a:lnSpc>
            </a:pPr>
            <a:r>
              <a:rPr lang="en-US" sz="2700" b="true">
                <a:solidFill>
                  <a:srgbClr val="000000"/>
                </a:solidFill>
                <a:latin typeface="Montserrat Bold"/>
                <a:ea typeface="Montserrat Bold"/>
                <a:cs typeface="Montserrat Bold"/>
                <a:sym typeface="Montserrat Bold"/>
              </a:rPr>
              <a:t>==&gt; Simple but insightful visualization</a:t>
            </a:r>
          </a:p>
          <a:p>
            <a:pPr algn="just">
              <a:lnSpc>
                <a:spcPts val="4590"/>
              </a:lnSpc>
            </a:pPr>
            <a:r>
              <a:rPr lang="en-US" sz="2700" b="true">
                <a:solidFill>
                  <a:srgbClr val="000000"/>
                </a:solidFill>
                <a:latin typeface="Montserrat Bold"/>
                <a:ea typeface="Montserrat Bold"/>
                <a:cs typeface="Montserrat Bold"/>
                <a:sym typeface="Montserrat Bold"/>
              </a:rPr>
              <a:t>==&gt; Includes what matters to the users</a:t>
            </a:r>
          </a:p>
          <a:p>
            <a:pPr algn="just">
              <a:lnSpc>
                <a:spcPts val="4590"/>
              </a:lnSpc>
            </a:pPr>
            <a:r>
              <a:rPr lang="en-US" sz="2700" b="true">
                <a:solidFill>
                  <a:srgbClr val="000000"/>
                </a:solidFill>
                <a:latin typeface="Montserrat Bold"/>
                <a:ea typeface="Montserrat Bold"/>
                <a:cs typeface="Montserrat Bold"/>
                <a:sym typeface="Montserrat Bold"/>
              </a:rPr>
              <a:t>==&gt;These are the characteristics to a perfect dashboard!</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90485" y="2052185"/>
            <a:ext cx="7953515" cy="2924647"/>
          </a:xfrm>
          <a:prstGeom prst="rect">
            <a:avLst/>
          </a:prstGeom>
        </p:spPr>
        <p:txBody>
          <a:bodyPr anchor="t" rtlCol="false" tIns="0" lIns="0" bIns="0" rIns="0">
            <a:spAutoFit/>
          </a:bodyPr>
          <a:lstStyle/>
          <a:p>
            <a:pPr algn="l">
              <a:lnSpc>
                <a:spcPts val="11557"/>
              </a:lnSpc>
            </a:pPr>
            <a:r>
              <a:rPr lang="en-US" sz="9551" b="true">
                <a:solidFill>
                  <a:srgbClr val="A21616"/>
                </a:solidFill>
                <a:latin typeface="Montserrat Ultra-Bold"/>
                <a:ea typeface="Montserrat Ultra-Bold"/>
                <a:cs typeface="Montserrat Ultra-Bold"/>
                <a:sym typeface="Montserrat Ultra-Bold"/>
              </a:rPr>
              <a:t>Thank You So Much</a:t>
            </a:r>
          </a:p>
        </p:txBody>
      </p:sp>
      <p:sp>
        <p:nvSpPr>
          <p:cNvPr name="Freeform 3" id="3"/>
          <p:cNvSpPr/>
          <p:nvPr/>
        </p:nvSpPr>
        <p:spPr>
          <a:xfrm flipH="true" flipV="false" rot="0">
            <a:off x="8243309" y="0"/>
            <a:ext cx="11174397" cy="10381485"/>
          </a:xfrm>
          <a:custGeom>
            <a:avLst/>
            <a:gdLst/>
            <a:ahLst/>
            <a:cxnLst/>
            <a:rect r="r" b="b" t="t" l="l"/>
            <a:pathLst>
              <a:path h="10381485" w="11174397">
                <a:moveTo>
                  <a:pt x="11174397" y="0"/>
                </a:moveTo>
                <a:lnTo>
                  <a:pt x="0" y="0"/>
                </a:lnTo>
                <a:lnTo>
                  <a:pt x="0" y="10381485"/>
                </a:lnTo>
                <a:lnTo>
                  <a:pt x="11174397" y="10381485"/>
                </a:lnTo>
                <a:lnTo>
                  <a:pt x="11174397" y="0"/>
                </a:lnTo>
                <a:close/>
              </a:path>
            </a:pathLst>
          </a:custGeom>
          <a:blipFill>
            <a:blip r:embed="rId2"/>
            <a:stretch>
              <a:fillRect l="-2304" t="0" r="-36877" b="0"/>
            </a:stretch>
          </a:blipFill>
        </p:spPr>
      </p:sp>
      <p:grpSp>
        <p:nvGrpSpPr>
          <p:cNvPr name="Group 4" id="4"/>
          <p:cNvGrpSpPr/>
          <p:nvPr/>
        </p:nvGrpSpPr>
        <p:grpSpPr>
          <a:xfrm rot="190464">
            <a:off x="8185777" y="-510173"/>
            <a:ext cx="3725053" cy="10910958"/>
            <a:chOff x="0" y="0"/>
            <a:chExt cx="981084" cy="2873668"/>
          </a:xfrm>
        </p:grpSpPr>
        <p:sp>
          <p:nvSpPr>
            <p:cNvPr name="Freeform 5" id="5"/>
            <p:cNvSpPr/>
            <p:nvPr/>
          </p:nvSpPr>
          <p:spPr>
            <a:xfrm flipH="false" flipV="false" rot="0">
              <a:off x="0" y="0"/>
              <a:ext cx="981084" cy="2873668"/>
            </a:xfrm>
            <a:custGeom>
              <a:avLst/>
              <a:gdLst/>
              <a:ahLst/>
              <a:cxnLst/>
              <a:rect r="r" b="b" t="t" l="l"/>
              <a:pathLst>
                <a:path h="2873668" w="981084">
                  <a:moveTo>
                    <a:pt x="0" y="0"/>
                  </a:moveTo>
                  <a:lnTo>
                    <a:pt x="981084" y="0"/>
                  </a:lnTo>
                  <a:lnTo>
                    <a:pt x="981084" y="2873668"/>
                  </a:lnTo>
                  <a:lnTo>
                    <a:pt x="0" y="2873668"/>
                  </a:lnTo>
                  <a:close/>
                </a:path>
              </a:pathLst>
            </a:custGeom>
            <a:gradFill rotWithShape="true">
              <a:gsLst>
                <a:gs pos="0">
                  <a:srgbClr val="FFFFFF">
                    <a:alpha val="100000"/>
                  </a:srgbClr>
                </a:gs>
                <a:gs pos="100000">
                  <a:srgbClr val="FFFFFF">
                    <a:alpha val="0"/>
                  </a:srgbClr>
                </a:gs>
              </a:gsLst>
              <a:lin ang="0"/>
            </a:gradFill>
          </p:spPr>
        </p:sp>
        <p:sp>
          <p:nvSpPr>
            <p:cNvPr name="TextBox 6" id="6"/>
            <p:cNvSpPr txBox="true"/>
            <p:nvPr/>
          </p:nvSpPr>
          <p:spPr>
            <a:xfrm>
              <a:off x="0" y="-114300"/>
              <a:ext cx="981084" cy="2987968"/>
            </a:xfrm>
            <a:prstGeom prst="rect">
              <a:avLst/>
            </a:prstGeom>
          </p:spPr>
          <p:txBody>
            <a:bodyPr anchor="ctr" rtlCol="false" tIns="50800" lIns="50800" bIns="50800" rIns="50800"/>
            <a:lstStyle/>
            <a:p>
              <a:pPr algn="ctr">
                <a:lnSpc>
                  <a:spcPts val="4168"/>
                </a:lnSpc>
              </a:pPr>
            </a:p>
          </p:txBody>
        </p:sp>
      </p:grpSp>
      <p:grpSp>
        <p:nvGrpSpPr>
          <p:cNvPr name="Group 7" id="7"/>
          <p:cNvGrpSpPr/>
          <p:nvPr/>
        </p:nvGrpSpPr>
        <p:grpSpPr>
          <a:xfrm rot="190464">
            <a:off x="7979993" y="-527653"/>
            <a:ext cx="3093746" cy="10910958"/>
            <a:chOff x="0" y="0"/>
            <a:chExt cx="814814" cy="2873668"/>
          </a:xfrm>
        </p:grpSpPr>
        <p:sp>
          <p:nvSpPr>
            <p:cNvPr name="Freeform 8" id="8"/>
            <p:cNvSpPr/>
            <p:nvPr/>
          </p:nvSpPr>
          <p:spPr>
            <a:xfrm flipH="false" flipV="false" rot="0">
              <a:off x="0" y="0"/>
              <a:ext cx="814814" cy="2873668"/>
            </a:xfrm>
            <a:custGeom>
              <a:avLst/>
              <a:gdLst/>
              <a:ahLst/>
              <a:cxnLst/>
              <a:rect r="r" b="b" t="t" l="l"/>
              <a:pathLst>
                <a:path h="2873668" w="814814">
                  <a:moveTo>
                    <a:pt x="0" y="0"/>
                  </a:moveTo>
                  <a:lnTo>
                    <a:pt x="814814" y="0"/>
                  </a:lnTo>
                  <a:lnTo>
                    <a:pt x="814814" y="2873668"/>
                  </a:lnTo>
                  <a:lnTo>
                    <a:pt x="0" y="2873668"/>
                  </a:lnTo>
                  <a:close/>
                </a:path>
              </a:pathLst>
            </a:custGeom>
            <a:gradFill rotWithShape="true">
              <a:gsLst>
                <a:gs pos="0">
                  <a:srgbClr val="FFFFFF">
                    <a:alpha val="100000"/>
                  </a:srgbClr>
                </a:gs>
                <a:gs pos="100000">
                  <a:srgbClr val="FFFFFF">
                    <a:alpha val="0"/>
                  </a:srgbClr>
                </a:gs>
              </a:gsLst>
              <a:lin ang="0"/>
            </a:gradFill>
          </p:spPr>
        </p:sp>
        <p:sp>
          <p:nvSpPr>
            <p:cNvPr name="TextBox 9" id="9"/>
            <p:cNvSpPr txBox="true"/>
            <p:nvPr/>
          </p:nvSpPr>
          <p:spPr>
            <a:xfrm>
              <a:off x="0" y="-114300"/>
              <a:ext cx="814814" cy="2987968"/>
            </a:xfrm>
            <a:prstGeom prst="rect">
              <a:avLst/>
            </a:prstGeom>
          </p:spPr>
          <p:txBody>
            <a:bodyPr anchor="ctr" rtlCol="false" tIns="50800" lIns="50800" bIns="50800" rIns="50800"/>
            <a:lstStyle/>
            <a:p>
              <a:pPr algn="ctr">
                <a:lnSpc>
                  <a:spcPts val="4168"/>
                </a:lnSpc>
              </a:pPr>
            </a:p>
          </p:txBody>
        </p:sp>
      </p:grpSp>
      <p:sp>
        <p:nvSpPr>
          <p:cNvPr name="TextBox 10" id="10"/>
          <p:cNvSpPr txBox="true"/>
          <p:nvPr/>
        </p:nvSpPr>
        <p:spPr>
          <a:xfrm rot="0">
            <a:off x="1190485" y="5481657"/>
            <a:ext cx="7402350" cy="1006352"/>
          </a:xfrm>
          <a:prstGeom prst="rect">
            <a:avLst/>
          </a:prstGeom>
        </p:spPr>
        <p:txBody>
          <a:bodyPr anchor="t" rtlCol="false" tIns="0" lIns="0" bIns="0" rIns="0">
            <a:spAutoFit/>
          </a:bodyPr>
          <a:lstStyle/>
          <a:p>
            <a:pPr algn="l">
              <a:lnSpc>
                <a:spcPts val="4168"/>
              </a:lnSpc>
            </a:pPr>
            <a:r>
              <a:rPr lang="en-US" sz="2451" b="true">
                <a:solidFill>
                  <a:srgbClr val="000000"/>
                </a:solidFill>
                <a:latin typeface="Montserrat Medium"/>
                <a:ea typeface="Montserrat Medium"/>
                <a:cs typeface="Montserrat Medium"/>
                <a:sym typeface="Montserrat Medium"/>
              </a:rPr>
              <a:t>Any further comments to improve the dashboard is welcomed in arms!</a:t>
            </a:r>
          </a:p>
        </p:txBody>
      </p:sp>
      <p:sp>
        <p:nvSpPr>
          <p:cNvPr name="Freeform 11" id="11"/>
          <p:cNvSpPr/>
          <p:nvPr/>
        </p:nvSpPr>
        <p:spPr>
          <a:xfrm flipH="true" flipV="true" rot="0">
            <a:off x="13140670" y="3875825"/>
            <a:ext cx="7798994" cy="6505661"/>
          </a:xfrm>
          <a:custGeom>
            <a:avLst/>
            <a:gdLst/>
            <a:ahLst/>
            <a:cxnLst/>
            <a:rect r="r" b="b" t="t" l="l"/>
            <a:pathLst>
              <a:path h="6505661" w="7798994">
                <a:moveTo>
                  <a:pt x="7798994" y="6505660"/>
                </a:moveTo>
                <a:lnTo>
                  <a:pt x="0" y="6505660"/>
                </a:lnTo>
                <a:lnTo>
                  <a:pt x="0" y="0"/>
                </a:lnTo>
                <a:lnTo>
                  <a:pt x="7798994" y="0"/>
                </a:lnTo>
                <a:lnTo>
                  <a:pt x="7798994" y="65056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true" flipV="false" rot="0">
            <a:off x="11373466" y="-440244"/>
            <a:ext cx="8961874" cy="4316069"/>
          </a:xfrm>
          <a:custGeom>
            <a:avLst/>
            <a:gdLst/>
            <a:ahLst/>
            <a:cxnLst/>
            <a:rect r="r" b="b" t="t" l="l"/>
            <a:pathLst>
              <a:path h="4316069" w="8961874">
                <a:moveTo>
                  <a:pt x="8961874" y="0"/>
                </a:moveTo>
                <a:lnTo>
                  <a:pt x="0" y="0"/>
                </a:lnTo>
                <a:lnTo>
                  <a:pt x="0" y="4316069"/>
                </a:lnTo>
                <a:lnTo>
                  <a:pt x="8961874" y="4316069"/>
                </a:lnTo>
                <a:lnTo>
                  <a:pt x="8961874" y="0"/>
                </a:lnTo>
                <a:close/>
              </a:path>
            </a:pathLst>
          </a:custGeom>
          <a:blipFill>
            <a:blip r:embed="rId5">
              <a:extLst>
                <a:ext uri="{96DAC541-7B7A-43D3-8B79-37D633B846F1}">
                  <asvg:svgBlip xmlns:asvg="http://schemas.microsoft.com/office/drawing/2016/SVG/main" r:embed="rId6"/>
                </a:ext>
              </a:extLst>
            </a:blip>
            <a:stretch>
              <a:fillRect l="0" t="0" r="0" b="-35571"/>
            </a:stretch>
          </a:blipFill>
        </p:spPr>
      </p:sp>
      <p:sp>
        <p:nvSpPr>
          <p:cNvPr name="Freeform 13" id="13"/>
          <p:cNvSpPr/>
          <p:nvPr/>
        </p:nvSpPr>
        <p:spPr>
          <a:xfrm flipH="false" flipV="false" rot="0">
            <a:off x="8452889" y="7704660"/>
            <a:ext cx="1278430" cy="675970"/>
          </a:xfrm>
          <a:custGeom>
            <a:avLst/>
            <a:gdLst/>
            <a:ahLst/>
            <a:cxnLst/>
            <a:rect r="r" b="b" t="t" l="l"/>
            <a:pathLst>
              <a:path h="675970" w="1278430">
                <a:moveTo>
                  <a:pt x="0" y="0"/>
                </a:moveTo>
                <a:lnTo>
                  <a:pt x="1278430" y="0"/>
                </a:lnTo>
                <a:lnTo>
                  <a:pt x="1278430" y="675970"/>
                </a:lnTo>
                <a:lnTo>
                  <a:pt x="0" y="6759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DAHI3qFmiDA</dc:identifier>
  <dcterms:modified xsi:type="dcterms:W3CDTF">2011-08-01T06:04:30Z</dcterms:modified>
  <cp:revision>1</cp:revision>
  <dc:title>Techcombank Financial Dashboard Guide</dc:title>
</cp:coreProperties>
</file>